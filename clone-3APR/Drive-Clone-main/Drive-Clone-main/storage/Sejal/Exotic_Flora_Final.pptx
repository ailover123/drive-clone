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82" r:id="rId3"/>
    <p:sldId id="283" r:id="rId5"/>
    <p:sldId id="284" r:id="rId6"/>
    <p:sldId id="285" r:id="rId7"/>
    <p:sldId id="286" r:id="rId8"/>
    <p:sldId id="297" r:id="rId9"/>
    <p:sldId id="302" r:id="rId10"/>
    <p:sldId id="288" r:id="rId11"/>
    <p:sldId id="290" r:id="rId12"/>
    <p:sldId id="291" r:id="rId13"/>
    <p:sldId id="293" r:id="rId14"/>
    <p:sldId id="294" r:id="rId15"/>
  </p:sldIdLst>
  <p:sldSz cx="9144000" cy="6858000" type="screen4x3"/>
  <p:notesSz cx="6858000" cy="9144000"/>
  <p:embeddedFontLst>
    <p:embeddedFont>
      <p:font typeface="SimSun" panose="02010600030101010101" pitchFamily="2" charset="-122"/>
      <p:regular r:id="rId19"/>
    </p:embeddedFont>
    <p:embeddedFont>
      <p:font typeface="Calibri" panose="020F0502020204030204"/>
      <p:regular r:id="rId20"/>
    </p:embeddedFont>
    <p:embeddedFont>
      <p:font typeface="Bookman Old Style" panose="02050604050505020204"/>
      <p:regular r:id="rId21"/>
      <p:bold r:id="rId22"/>
      <p:italic r:id="rId23"/>
    </p:embeddedFont>
    <p:embeddedFont>
      <p:font typeface="Overlock" panose="02000506030000020004"/>
      <p:regular r:id="rId24"/>
      <p:bold r:id="rId25"/>
      <p:italic r:id="rId26"/>
      <p:boldItalic r:id="rId27"/>
    </p:embeddedFont>
    <p:embeddedFont>
      <p:font typeface="Calibri" panose="020F050202020403020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8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66" d="100"/>
          <a:sy n="66" d="100"/>
        </p:scale>
        <p:origin x="1506" y="96"/>
      </p:cViewPr>
      <p:guideLst>
        <p:guide orient="horz" pos="2186"/>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13.fntdata"/><Relationship Id="rId30" Type="http://schemas.openxmlformats.org/officeDocument/2006/relationships/font" Target="fonts/font12.fntdata"/><Relationship Id="rId3" Type="http://schemas.openxmlformats.org/officeDocument/2006/relationships/slide" Target="slides/slide1.xml"/><Relationship Id="rId29" Type="http://schemas.openxmlformats.org/officeDocument/2006/relationships/font" Target="fonts/font11.fntdata"/><Relationship Id="rId28" Type="http://schemas.openxmlformats.org/officeDocument/2006/relationships/font" Target="fonts/font10.fntdata"/><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807"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808"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809"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10"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811"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812"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1048600"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1"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602"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603" name="Google Shape;88;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604" name="Google Shape;89;p1: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605" name="Google Shape;90;p1: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048634" name="Google Shape;11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35" name="Google Shape;11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636" name="Google Shape;11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637" name="Google Shape;115;p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638" name="Google Shape;116;p2: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639" name="Google Shape;117;p2: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048646"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47"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648"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649" name="Google Shape;176;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650" name="Google Shape;177;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651" name="Google Shape;178;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048657"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58"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659"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660" name="Google Shape;176;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661" name="Google Shape;177;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662" name="Google Shape;178;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048670"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71"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672"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673" name="Google Shape;176;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674" name="Google Shape;177;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675" name="Google Shape;178;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048681"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82"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683"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684" name="Google Shape;176;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685" name="Google Shape;177;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686" name="Google Shape;178;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048691"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92"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693"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694" name="Google Shape;176;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695" name="Google Shape;177;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696" name="Google Shape;178;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048714"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15"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716"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717" name="Google Shape;176;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718" name="Google Shape;177;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719" name="Google Shape;178;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048725"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26"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727"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728" name="Google Shape;176;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729" name="Google Shape;177;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730" name="Google Shape;178;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048740"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41"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742"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743" name="Google Shape;176;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744" name="Google Shape;177;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745" name="Google Shape;178;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048751" name="Google Shape;18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52" name="Google Shape;19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048753" name="Google Shape;191;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48754" name="Google Shape;192;p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endParaRPr lang="en-US"/>
          </a:p>
        </p:txBody>
      </p:sp>
      <p:sp>
        <p:nvSpPr>
          <p:cNvPr id="1048755" name="Google Shape;193;p9: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KCCEMSR, THANE</a:t>
            </a:r>
            <a:endParaRPr lang="en-US"/>
          </a:p>
        </p:txBody>
      </p:sp>
      <p:sp>
        <p:nvSpPr>
          <p:cNvPr id="1048756" name="Google Shape;194;p9: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10/14/2024</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048581" name="Google Shape;16;p1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2" name="Google Shape;17;p1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048583" name="Google Shape;1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4" name="Google Shape;1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5" name="Google Shape;2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5"/>
        <p:cNvGrpSpPr/>
        <p:nvPr/>
      </p:nvGrpSpPr>
      <p:grpSpPr>
        <a:xfrm>
          <a:off x="0" y="0"/>
          <a:ext cx="0" cy="0"/>
          <a:chOff x="0" y="0"/>
          <a:chExt cx="0" cy="0"/>
        </a:xfrm>
      </p:grpSpPr>
      <p:sp>
        <p:nvSpPr>
          <p:cNvPr id="1048761" name="Google Shape;26;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62" name="Google Shape;27;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p:txBody>
      </p:sp>
      <p:sp>
        <p:nvSpPr>
          <p:cNvPr id="1048763" name="Google Shape;2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64" name="Google Shape;2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65" name="Google Shape;3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1"/>
        <p:cNvGrpSpPr/>
        <p:nvPr/>
      </p:nvGrpSpPr>
      <p:grpSpPr>
        <a:xfrm>
          <a:off x="0" y="0"/>
          <a:ext cx="0" cy="0"/>
          <a:chOff x="0" y="0"/>
          <a:chExt cx="0" cy="0"/>
        </a:xfrm>
      </p:grpSpPr>
      <p:sp>
        <p:nvSpPr>
          <p:cNvPr id="1048776" name="Google Shape;32;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77" name="Google Shape;33;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1048778" name="Google Shape;3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79" name="Google Shape;35;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80" name="Google Shape;36;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7"/>
        <p:cNvGrpSpPr/>
        <p:nvPr/>
      </p:nvGrpSpPr>
      <p:grpSpPr>
        <a:xfrm>
          <a:off x="0" y="0"/>
          <a:ext cx="0" cy="0"/>
          <a:chOff x="0" y="0"/>
          <a:chExt cx="0" cy="0"/>
        </a:xfrm>
      </p:grpSpPr>
      <p:sp>
        <p:nvSpPr>
          <p:cNvPr id="1048781" name="Google Shape;38;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82" name="Google Shape;39;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1048783" name="Google Shape;40;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1048784" name="Google Shape;4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85" name="Google Shape;4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86" name="Google Shape;4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1048787" name="Google Shape;45;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88" name="Google Shape;46;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1048789" name="Google Shape;47;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1048790" name="Google Shape;48;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1048791" name="Google Shape;49;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1048792" name="Google Shape;5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93" name="Google Shape;5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94" name="Google Shape;5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1048757" name="Google Shape;5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58" name="Google Shape;5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59" name="Google Shape;5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60" name="Google Shape;5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1048795" name="Google Shape;59;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96" name="Google Shape;60;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1048797" name="Google Shape;61;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1048798" name="Google Shape;6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99" name="Google Shape;6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800" name="Google Shape;6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1048801" name="Google Shape;66;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802" name="Google Shape;67;p19"/>
          <p:cNvSpPr>
            <a:spLocks noGrp="1"/>
          </p:cNvSpPr>
          <p:nvPr>
            <p:ph type="pic" idx="2"/>
          </p:nvPr>
        </p:nvSpPr>
        <p:spPr>
          <a:xfrm>
            <a:off x="1792288" y="612775"/>
            <a:ext cx="5486400" cy="4114800"/>
          </a:xfrm>
          <a:prstGeom prst="rect">
            <a:avLst/>
          </a:prstGeom>
          <a:noFill/>
          <a:ln>
            <a:noFill/>
          </a:ln>
        </p:spPr>
      </p:sp>
      <p:sp>
        <p:nvSpPr>
          <p:cNvPr id="1048803" name="Google Shape;68;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1048804" name="Google Shape;69;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805" name="Google Shape;70;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806" name="Google Shape;71;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1048766" name="Google Shape;73;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67" name="Google Shape;74;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p:txBody>
      </p:sp>
      <p:sp>
        <p:nvSpPr>
          <p:cNvPr id="1048768" name="Google Shape;7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69" name="Google Shape;7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70" name="Google Shape;7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1048771" name="Google Shape;79;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72" name="Google Shape;80;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p:txBody>
      </p:sp>
      <p:sp>
        <p:nvSpPr>
          <p:cNvPr id="1048773" name="Google Shape;8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74" name="Google Shape;8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75" name="Google Shape;8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48576" name="Google Shape;10;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8577" name="Google Shape;11;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8" name="Google Shape;1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9" name="Google Shape;1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80" name="Google Shape;1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hyperlink" Target="https://doi.org/10.1016/j.compag.2018.01.009" TargetMode="External"/><Relationship Id="rId3" Type="http://schemas.openxmlformats.org/officeDocument/2006/relationships/hyperlink" Target="https://firebase.google.com/" TargetMode="External"/><Relationship Id="rId2" Type="http://schemas.openxmlformats.org/officeDocument/2006/relationships/hyperlink" Target="https://www.tensorflow.org/lite" TargetMode="Externa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1048586" name="Google Shape;92;p1"/>
          <p:cNvSpPr/>
          <p:nvPr/>
        </p:nvSpPr>
        <p:spPr>
          <a:xfrm>
            <a:off x="307975" y="5671185"/>
            <a:ext cx="8534400" cy="891540"/>
          </a:xfrm>
          <a:prstGeom prst="roundRect">
            <a:avLst>
              <a:gd name="adj" fmla="val 16667"/>
            </a:avLst>
          </a:prstGeom>
          <a:gradFill>
            <a:gsLst>
              <a:gs pos="0">
                <a:srgbClr val="C8B2E9"/>
              </a:gs>
              <a:gs pos="35000">
                <a:srgbClr val="D6CAED"/>
              </a:gs>
              <a:gs pos="100000">
                <a:srgbClr val="EFE8FA"/>
              </a:gs>
            </a:gsLst>
            <a:lin ang="16200000" scaled="0"/>
          </a:gradFill>
          <a:ln w="9525" cap="flat" cmpd="sng">
            <a:solidFill>
              <a:srgbClr val="7C5F9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587" name="Google Shape;93;p1"/>
          <p:cNvSpPr/>
          <p:nvPr/>
        </p:nvSpPr>
        <p:spPr>
          <a:xfrm>
            <a:off x="278130" y="2032000"/>
            <a:ext cx="8789670" cy="70548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Exotic flora : AI driven Exploration of exotic plants by image recognition</a:t>
            </a:r>
            <a:endParaRPr lang="en-US" alt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lang="en-US" alt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588" name="Google Shape;94;p1"/>
          <p:cNvSpPr/>
          <p:nvPr/>
        </p:nvSpPr>
        <p:spPr>
          <a:xfrm>
            <a:off x="765175" y="506"/>
            <a:ext cx="7312025" cy="13849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600" b="1" i="0" u="none" strike="noStrike" cap="none" dirty="0" err="1">
                <a:solidFill>
                  <a:srgbClr val="1F3864"/>
                </a:solidFill>
                <a:latin typeface="Times New Roman" panose="02020603050405020304"/>
                <a:ea typeface="Times New Roman" panose="02020603050405020304"/>
                <a:cs typeface="Times New Roman" panose="02020603050405020304"/>
                <a:sym typeface="Times New Roman" panose="02020603050405020304"/>
              </a:rPr>
              <a:t>Excelssior</a:t>
            </a:r>
            <a:r>
              <a:rPr lang="en-US" sz="1600" b="1"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t> Education Society’s </a:t>
            </a:r>
            <a:br>
              <a:rPr lang="en-US" sz="2000" b="0"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br>
            <a:r>
              <a:rPr lang="en-US" sz="2400" b="1" i="0" u="none" strike="noStrike" cap="none"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         </a:t>
            </a:r>
            <a:r>
              <a:rPr lang="en-US" sz="1800" b="1"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t>K. C. College of Engineering &amp; Management Studies &amp; Research  </a:t>
            </a:r>
            <a:br>
              <a:rPr lang="en-US"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br>
            <a:r>
              <a:rPr lang="en-US" sz="1400" b="1"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t>(Affiliated to the University of Mumbai &amp; Approved by AICTE)</a:t>
            </a:r>
            <a:br>
              <a:rPr lang="en-US" sz="1400" b="0"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br>
            <a:r>
              <a:rPr lang="en-US" sz="1400" b="1" i="0" u="none" strike="noStrike" cap="none" dirty="0" err="1">
                <a:solidFill>
                  <a:srgbClr val="1F3864"/>
                </a:solidFill>
                <a:latin typeface="Times New Roman" panose="02020603050405020304"/>
                <a:ea typeface="Times New Roman" panose="02020603050405020304"/>
                <a:cs typeface="Times New Roman" panose="02020603050405020304"/>
                <a:sym typeface="Times New Roman" panose="02020603050405020304"/>
              </a:rPr>
              <a:t>Mith</a:t>
            </a:r>
            <a:r>
              <a:rPr lang="en-US" sz="1400" b="1"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t> </a:t>
            </a:r>
            <a:r>
              <a:rPr lang="en-US" sz="1400" b="1" i="0" u="none" strike="noStrike" cap="none" dirty="0" err="1">
                <a:solidFill>
                  <a:srgbClr val="1F3864"/>
                </a:solidFill>
                <a:latin typeface="Times New Roman" panose="02020603050405020304"/>
                <a:ea typeface="Times New Roman" panose="02020603050405020304"/>
                <a:cs typeface="Times New Roman" panose="02020603050405020304"/>
                <a:sym typeface="Times New Roman" panose="02020603050405020304"/>
              </a:rPr>
              <a:t>Bunder</a:t>
            </a:r>
            <a:r>
              <a:rPr lang="en-US" sz="1400" b="1"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t> Road, Near Hume Pipe, </a:t>
            </a:r>
            <a:r>
              <a:rPr lang="en-US" sz="1400" b="1" i="0" u="none" strike="noStrike" cap="none" dirty="0" err="1">
                <a:solidFill>
                  <a:srgbClr val="1F3864"/>
                </a:solidFill>
                <a:latin typeface="Times New Roman" panose="02020603050405020304"/>
                <a:ea typeface="Times New Roman" panose="02020603050405020304"/>
                <a:cs typeface="Times New Roman" panose="02020603050405020304"/>
                <a:sym typeface="Times New Roman" panose="02020603050405020304"/>
              </a:rPr>
              <a:t>Kopri</a:t>
            </a:r>
            <a:r>
              <a:rPr lang="en-US" sz="1400" b="1"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t>, Thane (E) – 400603</a:t>
            </a:r>
            <a:br>
              <a:rPr lang="en-US" sz="1400" b="1"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br>
            <a:r>
              <a:rPr lang="en-US" sz="1400" b="1" i="0" u="none" strike="noStrike" cap="none" dirty="0">
                <a:solidFill>
                  <a:srgbClr val="1F3864"/>
                </a:solidFill>
                <a:latin typeface="Times New Roman" panose="02020603050405020304"/>
                <a:ea typeface="Times New Roman" panose="02020603050405020304"/>
                <a:cs typeface="Times New Roman" panose="02020603050405020304"/>
                <a:sym typeface="Times New Roman" panose="02020603050405020304"/>
              </a:rPr>
              <a:t>NAAC Accredited with B++ Grade</a:t>
            </a:r>
            <a:endParaRPr sz="1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589" name="Google Shape;95;p1"/>
          <p:cNvSpPr/>
          <p:nvPr/>
        </p:nvSpPr>
        <p:spPr>
          <a:xfrm>
            <a:off x="457200" y="1385848"/>
            <a:ext cx="8382000" cy="7232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00" b="1" i="0" u="none" strike="noStrike" cap="none" dirty="0">
                <a:solidFill>
                  <a:srgbClr val="8E0000"/>
                </a:solidFill>
                <a:latin typeface="Bookman Old Style" panose="02050604050505020204"/>
                <a:ea typeface="Bookman Old Style" panose="02050604050505020204"/>
                <a:cs typeface="Bookman Old Style" panose="02050604050505020204"/>
                <a:sym typeface="Bookman Old Style" panose="02050604050505020204"/>
              </a:rPr>
              <a:t>For the Degree of Second year of Computer Engineering</a:t>
            </a:r>
            <a:endParaRPr sz="1700" b="1" dirty="0"/>
          </a:p>
          <a:p>
            <a:pPr marL="0" marR="0" lvl="0" indent="0" algn="ctr" rtl="0">
              <a:spcBef>
                <a:spcPts val="0"/>
              </a:spcBef>
              <a:spcAft>
                <a:spcPts val="0"/>
              </a:spcAft>
              <a:buNone/>
            </a:pP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Academic Year 2024-25</a:t>
            </a:r>
            <a:endParaRPr sz="2000" b="0" i="0" u="none" strike="noStrike" cap="none" dirty="0">
              <a:solidFill>
                <a:srgbClr val="8E0000"/>
              </a:solidFill>
              <a:latin typeface="Bookman Old Style" panose="02050604050505020204"/>
              <a:ea typeface="Bookman Old Style" panose="02050604050505020204"/>
              <a:cs typeface="Bookman Old Style" panose="02050604050505020204"/>
              <a:sym typeface="Bookman Old Style" panose="02050604050505020204"/>
            </a:endParaRPr>
          </a:p>
        </p:txBody>
      </p:sp>
      <p:cxnSp>
        <p:nvCxnSpPr>
          <p:cNvPr id="3145728" name="Google Shape;96;p1"/>
          <p:cNvCxnSpPr/>
          <p:nvPr/>
        </p:nvCxnSpPr>
        <p:spPr>
          <a:xfrm>
            <a:off x="76200" y="1310770"/>
            <a:ext cx="8991600" cy="1588"/>
          </a:xfrm>
          <a:prstGeom prst="straightConnector1">
            <a:avLst/>
          </a:prstGeom>
          <a:noFill/>
          <a:ln w="9525" cap="flat" cmpd="sng">
            <a:solidFill>
              <a:srgbClr val="4A7DBA"/>
            </a:solidFill>
            <a:prstDash val="solid"/>
            <a:round/>
            <a:headEnd type="none" w="sm" len="sm"/>
            <a:tailEnd type="none" w="sm" len="sm"/>
          </a:ln>
        </p:spPr>
      </p:cxnSp>
      <p:sp>
        <p:nvSpPr>
          <p:cNvPr id="1048590" name="Google Shape;97;p1"/>
          <p:cNvSpPr/>
          <p:nvPr/>
        </p:nvSpPr>
        <p:spPr>
          <a:xfrm>
            <a:off x="2475865" y="4608002"/>
            <a:ext cx="4572000" cy="6743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Guided by :</a:t>
            </a:r>
            <a:endParaRPr dirty="0"/>
          </a:p>
          <a:p>
            <a:pPr marL="0" marR="0" lvl="0" indent="0" algn="ctr" rtl="0">
              <a:spcBef>
                <a:spcPts val="0"/>
              </a:spcBef>
              <a:spcAft>
                <a:spcPts val="0"/>
              </a:spcAft>
              <a:buNone/>
            </a:pPr>
            <a:r>
              <a:rPr lang="en-US" sz="2000" b="1" i="0" u="none" strike="noStrike" cap="none"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Prof. Suman Bhujbal</a:t>
            </a:r>
            <a:endParaRPr sz="1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591" name="Google Shape;98;p1"/>
          <p:cNvSpPr/>
          <p:nvPr/>
        </p:nvSpPr>
        <p:spPr>
          <a:xfrm>
            <a:off x="380999" y="5744210"/>
            <a:ext cx="8534400"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Overlock" panose="02000506030000020004"/>
                <a:ea typeface="Overlock" panose="02000506030000020004"/>
                <a:cs typeface="Overlock" panose="02000506030000020004"/>
                <a:sym typeface="Overlock" panose="02000506030000020004"/>
              </a:rPr>
              <a:t>Department of Computer Engineering</a:t>
            </a:r>
            <a:endParaRPr sz="1800" b="0"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a:p>
            <a:pPr marL="0" marR="0" lvl="0" indent="0" algn="ctr" rtl="0">
              <a:spcBef>
                <a:spcPts val="0"/>
              </a:spcBef>
              <a:spcAft>
                <a:spcPts val="0"/>
              </a:spcAft>
              <a:buNone/>
            </a:pPr>
            <a:r>
              <a:rPr lang="en-US" sz="2000" b="0" i="0" u="none" strike="noStrike" cap="none">
                <a:solidFill>
                  <a:schemeClr val="dk1"/>
                </a:solidFill>
                <a:latin typeface="Overlock" panose="02000506030000020004"/>
                <a:ea typeface="Overlock" panose="02000506030000020004"/>
                <a:cs typeface="Overlock" panose="02000506030000020004"/>
                <a:sym typeface="Overlock" panose="02000506030000020004"/>
              </a:rPr>
              <a:t>K. C. College of Engineering &amp; Management Studies &amp; Research, Thane (E)</a:t>
            </a:r>
            <a:endParaRPr sz="2000" b="0"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p:txBody>
      </p:sp>
      <p:pic>
        <p:nvPicPr>
          <p:cNvPr id="2097152" name="Google Shape;99;p1" descr="LOGO.jpg"/>
          <p:cNvPicPr preferRelativeResize="0"/>
          <p:nvPr/>
        </p:nvPicPr>
        <p:blipFill rotWithShape="1">
          <a:blip r:embed="rId1"/>
          <a:srcRect/>
          <a:stretch>
            <a:fillRect/>
          </a:stretch>
        </p:blipFill>
        <p:spPr>
          <a:xfrm>
            <a:off x="7952014" y="236538"/>
            <a:ext cx="838200" cy="838200"/>
          </a:xfrm>
          <a:prstGeom prst="rect">
            <a:avLst/>
          </a:prstGeom>
          <a:noFill/>
          <a:ln>
            <a:noFill/>
          </a:ln>
        </p:spPr>
      </p:pic>
      <p:sp>
        <p:nvSpPr>
          <p:cNvPr id="1048592" name="Google Shape;100;p1" descr="http://www.dreamadmission.in/data/colleges/k.c.-college-of-engineering-and-management-studies-and-research-kopri-thane/logo/1439876107K.C.%20College%20of%20Engineering%20and%20Management%20Studies.jpg"/>
          <p:cNvSpPr/>
          <p:nvPr/>
        </p:nvSpPr>
        <p:spPr>
          <a:xfrm>
            <a:off x="155575" y="84138"/>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593" name="Google Shape;101;p1" descr="http://www.dreamadmission.in/data/colleges/k.c.-college-of-engineering-and-management-studies-and-research-kopri-thane/logo/1439876107K.C.%20College%20of%20Engineering%20and%20Management%20Studies.jpg"/>
          <p:cNvSpPr/>
          <p:nvPr/>
        </p:nvSpPr>
        <p:spPr>
          <a:xfrm>
            <a:off x="498475" y="301751"/>
            <a:ext cx="304800" cy="7483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594" name="Google Shape;102;p1" descr="http://www.dreamadmission.in/data/colleges/k.c.-college-of-engineering-and-management-studies-and-research-kopri-thane/logo/1439876107K.C.%20College%20of%20Engineering%20and%20Management%20Studies.jpg"/>
          <p:cNvSpPr/>
          <p:nvPr/>
        </p:nvSpPr>
        <p:spPr>
          <a:xfrm>
            <a:off x="307975" y="236538"/>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595" name="Google Shape;103;p1" descr="http://www.dreamadmission.in/data/colleges/k.c.-college-of-engineering-and-management-studies-and-research-kopri-thane/logo/1439876107K.C.%20College%20of%20Engineering%20and%20Management%20Studies.jpg"/>
          <p:cNvSpPr/>
          <p:nvPr/>
        </p:nvSpPr>
        <p:spPr>
          <a:xfrm>
            <a:off x="460375" y="388938"/>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596" name="Google Shape;104;p1"/>
          <p:cNvSpPr txBox="1"/>
          <p:nvPr/>
        </p:nvSpPr>
        <p:spPr>
          <a:xfrm>
            <a:off x="1631950" y="2513965"/>
            <a:ext cx="6038215" cy="20288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en-US" sz="1800" dirty="0">
                <a:solidFill>
                  <a:schemeClr val="dk1"/>
                </a:solidFill>
                <a:latin typeface="Calibri" panose="020F0502020204030204"/>
                <a:ea typeface="Calibri" panose="020F0502020204030204"/>
                <a:cs typeface="Calibri" panose="020F0502020204030204"/>
                <a:sym typeface="Calibri" panose="020F0502020204030204"/>
              </a:rPr>
              <a:t>Student Name                   Roll No                          PRN</a:t>
            </a:r>
            <a:endParaRPr lang="en-US" altLang="en-US"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lang="en-US" altLang="en-US"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altLang="en-US" sz="1800" dirty="0">
                <a:solidFill>
                  <a:schemeClr val="dk1"/>
                </a:solidFill>
                <a:latin typeface="Calibri" panose="020F0502020204030204"/>
                <a:ea typeface="Calibri" panose="020F0502020204030204"/>
                <a:cs typeface="Calibri" panose="020F0502020204030204"/>
                <a:sym typeface="Calibri" panose="020F0502020204030204"/>
              </a:rPr>
              <a:t>Atharva Pate                          44                   2023016400731351</a:t>
            </a:r>
            <a:endParaRPr lang="en-US" altLang="en-US"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altLang="en-US" sz="1800" dirty="0">
                <a:solidFill>
                  <a:schemeClr val="dk1"/>
                </a:solidFill>
                <a:latin typeface="Calibri" panose="020F0502020204030204"/>
                <a:ea typeface="Calibri" panose="020F0502020204030204"/>
                <a:cs typeface="Calibri" panose="020F0502020204030204"/>
                <a:sym typeface="Calibri" panose="020F0502020204030204"/>
              </a:rPr>
              <a:t>Sejal Mahajan                        29                   2023016400733512</a:t>
            </a:r>
            <a:endParaRPr lang="en-US" altLang="en-US"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altLang="en-US" sz="1800" dirty="0">
                <a:solidFill>
                  <a:schemeClr val="dk1"/>
                </a:solidFill>
                <a:latin typeface="Calibri" panose="020F0502020204030204"/>
                <a:ea typeface="Calibri" panose="020F0502020204030204"/>
                <a:cs typeface="Calibri" panose="020F0502020204030204"/>
                <a:sym typeface="Calibri" panose="020F0502020204030204"/>
              </a:rPr>
              <a:t>Rohan Ludbe                          30                   2023016400733245</a:t>
            </a:r>
            <a:endParaRPr lang="en-US" altLang="en-US"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altLang="en-US" sz="1800" dirty="0">
                <a:solidFill>
                  <a:schemeClr val="dk1"/>
                </a:solidFill>
                <a:latin typeface="Calibri" panose="020F0502020204030204"/>
                <a:ea typeface="Calibri" panose="020F0502020204030204"/>
                <a:cs typeface="Calibri" panose="020F0502020204030204"/>
                <a:sym typeface="Calibri" panose="020F0502020204030204"/>
              </a:rPr>
              <a:t>Mrunmayee Pande                40                   2023016400736553</a:t>
            </a:r>
            <a:endParaRPr lang="en-US" altLang="en-US"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lang="en-US" altLang="en-US" sz="1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597" name="Google Shape;105;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endParaRPr lang="en-US" dirty="0"/>
          </a:p>
          <a:p>
            <a:pPr marL="0" lvl="0" indent="0" algn="l" rtl="0">
              <a:spcBef>
                <a:spcPts val="0"/>
              </a:spcBef>
              <a:spcAft>
                <a:spcPts val="0"/>
              </a:spcAft>
              <a:buNone/>
            </a:pPr>
            <a:endParaRPr dirty="0"/>
          </a:p>
        </p:txBody>
      </p:sp>
      <p:sp>
        <p:nvSpPr>
          <p:cNvPr id="1048599" name="Google Shape;107;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dirty="0"/>
          </a:p>
        </p:txBody>
      </p:sp>
      <p:pic>
        <p:nvPicPr>
          <p:cNvPr id="2097153" name="Google Shape;108;p1" descr="http://www.dreamadmission.in/data/colleges/k.c.-college-of-engineering-and-management-studies-and-research-kopri-thane/logo/1439876107K.C.%20College%20of%20Engineering%20and%20Management%20Studies.jpg"/>
          <p:cNvPicPr preferRelativeResize="0"/>
          <p:nvPr/>
        </p:nvPicPr>
        <p:blipFill rotWithShape="1">
          <a:blip r:embed="rId2"/>
          <a:srcRect/>
          <a:stretch>
            <a:fillRect/>
          </a:stretch>
        </p:blipFill>
        <p:spPr>
          <a:xfrm>
            <a:off x="304800" y="203572"/>
            <a:ext cx="1192647" cy="843372"/>
          </a:xfrm>
          <a:prstGeom prst="rect">
            <a:avLst/>
          </a:prstGeom>
          <a:noFill/>
          <a:ln>
            <a:noFill/>
          </a:ln>
        </p:spPr>
      </p:pic>
      <p:pic>
        <p:nvPicPr>
          <p:cNvPr id="2097154" name="Google Shape;109;p1" descr="https://encrypted-tbn0.gstatic.com/images?q=tbn:ANd9GcTcpmXAV9L1EGCOPw5DbK86H0UXEjvRhomPS4wEb3LzgpCrME8sSQ"/>
          <p:cNvPicPr preferRelativeResize="0"/>
          <p:nvPr/>
        </p:nvPicPr>
        <p:blipFill rotWithShape="1">
          <a:blip r:embed="rId3"/>
          <a:srcRect/>
          <a:stretch>
            <a:fillRect/>
          </a:stretch>
        </p:blipFill>
        <p:spPr>
          <a:xfrm>
            <a:off x="573086" y="4608316"/>
            <a:ext cx="1500198" cy="792045"/>
          </a:xfrm>
          <a:prstGeom prst="rect">
            <a:avLst/>
          </a:prstGeom>
          <a:noFill/>
          <a:ln>
            <a:noFill/>
          </a:ln>
        </p:spPr>
      </p:pic>
      <p:pic>
        <p:nvPicPr>
          <p:cNvPr id="2097155" name="Google Shape;110;p1" descr="http://mu.ac.in/portal/wp-content/uploads/2014/03/unilogo1.jpg"/>
          <p:cNvPicPr preferRelativeResize="0"/>
          <p:nvPr/>
        </p:nvPicPr>
        <p:blipFill rotWithShape="1">
          <a:blip r:embed="rId4"/>
          <a:srcRect/>
          <a:stretch>
            <a:fillRect/>
          </a:stretch>
        </p:blipFill>
        <p:spPr>
          <a:xfrm>
            <a:off x="7450772" y="4542911"/>
            <a:ext cx="1143007" cy="85725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cxnSp>
        <p:nvCxnSpPr>
          <p:cNvPr id="3145729" name="Google Shape;119;p2"/>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606" name="Google Shape;120;p2"/>
          <p:cNvSpPr/>
          <p:nvPr/>
        </p:nvSpPr>
        <p:spPr>
          <a:xfrm>
            <a:off x="1905000" y="1066800"/>
            <a:ext cx="5740400" cy="523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dk2"/>
                </a:solidFill>
                <a:latin typeface="Times New Roman" panose="02020603050405020304"/>
                <a:ea typeface="Times New Roman" panose="02020603050405020304"/>
                <a:cs typeface="Times New Roman" panose="02020603050405020304"/>
                <a:sym typeface="Times New Roman" panose="02020603050405020304"/>
              </a:rPr>
              <a:t>OUTLINE OF PRESENTATION</a:t>
            </a:r>
            <a:endParaRPr sz="2800">
              <a:solidFill>
                <a:schemeClr val="dk2"/>
              </a:solidFill>
              <a:latin typeface="Calibri" panose="020F0502020204030204"/>
              <a:ea typeface="Calibri" panose="020F0502020204030204"/>
              <a:cs typeface="Calibri" panose="020F0502020204030204"/>
              <a:sym typeface="Calibri" panose="020F0502020204030204"/>
            </a:endParaRPr>
          </a:p>
        </p:txBody>
      </p:sp>
      <p:sp>
        <p:nvSpPr>
          <p:cNvPr id="1048626" name="Google Shape;14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23/04/2026</a:t>
            </a:r>
            <a:endParaRPr lang="en-US" dirty="0"/>
          </a:p>
          <a:p>
            <a:pPr marL="0" lvl="0" indent="0" algn="l" rtl="0">
              <a:spcBef>
                <a:spcPts val="0"/>
              </a:spcBef>
              <a:spcAft>
                <a:spcPts val="0"/>
              </a:spcAft>
              <a:buNone/>
            </a:pPr>
            <a:endParaRPr dirty="0"/>
          </a:p>
        </p:txBody>
      </p:sp>
      <p:sp>
        <p:nvSpPr>
          <p:cNvPr id="1048628" name="Google Shape;15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097156" name="Google Shape;152;p2"/>
          <p:cNvPicPr preferRelativeResize="0"/>
          <p:nvPr/>
        </p:nvPicPr>
        <p:blipFill>
          <a:blip r:embed="rId1"/>
          <a:stretch>
            <a:fillRect/>
          </a:stretch>
        </p:blipFill>
        <p:spPr>
          <a:xfrm>
            <a:off x="76200" y="-2900"/>
            <a:ext cx="8682375" cy="895350"/>
          </a:xfrm>
          <a:prstGeom prst="rect">
            <a:avLst/>
          </a:prstGeom>
          <a:noFill/>
          <a:ln>
            <a:noFill/>
          </a:ln>
        </p:spPr>
      </p:pic>
      <p:sp>
        <p:nvSpPr>
          <p:cNvPr id="2" name="Text Box 1"/>
          <p:cNvSpPr txBox="1"/>
          <p:nvPr/>
        </p:nvSpPr>
        <p:spPr>
          <a:xfrm>
            <a:off x="537845" y="1765300"/>
            <a:ext cx="7454900" cy="3860165"/>
          </a:xfrm>
          <a:prstGeom prst="rect">
            <a:avLst/>
          </a:prstGeom>
        </p:spPr>
        <p:txBody>
          <a:bodyPr>
            <a:noAutofit/>
          </a:bodyPr>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Introduction</a:t>
            </a:r>
            <a:endParaRPr lang="en-US" altLang="zh-CN" sz="2800" b="0" i="0">
              <a:solidFill>
                <a:srgbClr val="000000"/>
              </a:solidFill>
              <a:latin typeface="Calibri" panose="020F0502020204030204"/>
              <a:ea typeface="Calibri" panose="020F0502020204030204"/>
            </a:endParaRPr>
          </a:p>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Literature Survey</a:t>
            </a:r>
            <a:endParaRPr lang="en-US" altLang="zh-CN" sz="2800" b="0" i="0">
              <a:solidFill>
                <a:srgbClr val="000000"/>
              </a:solidFill>
              <a:latin typeface="Calibri" panose="020F0502020204030204"/>
              <a:ea typeface="Calibri" panose="020F0502020204030204"/>
            </a:endParaRPr>
          </a:p>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Problem Statement</a:t>
            </a:r>
            <a:endParaRPr lang="en-US" altLang="zh-CN" sz="2800" b="0" i="0">
              <a:solidFill>
                <a:srgbClr val="000000"/>
              </a:solidFill>
              <a:latin typeface="Calibri" panose="020F0502020204030204"/>
              <a:ea typeface="Calibri" panose="020F0502020204030204"/>
            </a:endParaRPr>
          </a:p>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Aims &amp; Objective</a:t>
            </a:r>
            <a:endParaRPr lang="en-US" altLang="zh-CN" sz="2800" b="0" i="0">
              <a:solidFill>
                <a:srgbClr val="000000"/>
              </a:solidFill>
              <a:latin typeface="Calibri" panose="020F0502020204030204"/>
              <a:ea typeface="Calibri" panose="020F0502020204030204"/>
            </a:endParaRPr>
          </a:p>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System Analysis and Design</a:t>
            </a:r>
            <a:endParaRPr lang="en-US" altLang="zh-CN" sz="2800" b="0" i="0">
              <a:solidFill>
                <a:srgbClr val="000000"/>
              </a:solidFill>
              <a:latin typeface="Calibri" panose="020F0502020204030204"/>
              <a:ea typeface="Calibri" panose="020F0502020204030204"/>
            </a:endParaRPr>
          </a:p>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Methodology</a:t>
            </a:r>
            <a:endParaRPr lang="en-US" altLang="zh-CN" sz="2800" b="0" i="0">
              <a:solidFill>
                <a:srgbClr val="000000"/>
              </a:solidFill>
              <a:latin typeface="Calibri" panose="020F0502020204030204"/>
              <a:ea typeface="Calibri" panose="020F0502020204030204"/>
            </a:endParaRPr>
          </a:p>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Results and Analysis</a:t>
            </a:r>
            <a:endParaRPr lang="en-US" altLang="zh-CN" sz="2800" b="0" i="0">
              <a:solidFill>
                <a:srgbClr val="000000"/>
              </a:solidFill>
              <a:latin typeface="Calibri" panose="020F0502020204030204"/>
              <a:ea typeface="Calibri" panose="020F0502020204030204"/>
            </a:endParaRPr>
          </a:p>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Conclusion</a:t>
            </a:r>
            <a:endParaRPr lang="en-US" altLang="zh-CN" sz="2800" b="0" i="0">
              <a:solidFill>
                <a:srgbClr val="000000"/>
              </a:solidFill>
              <a:latin typeface="Calibri" panose="020F0502020204030204"/>
              <a:ea typeface="Calibri" panose="020F0502020204030204"/>
            </a:endParaRPr>
          </a:p>
          <a:p>
            <a:pPr marL="457200" indent="-457200" fontAlgn="base">
              <a:spcBef>
                <a:spcPts val="300"/>
              </a:spcBef>
              <a:spcAft>
                <a:spcPct val="0"/>
              </a:spcAft>
              <a:buFont typeface="Arial" panose="020B0604020202020204" pitchFamily="34" charset="0"/>
              <a:buChar char="•"/>
            </a:pPr>
            <a:r>
              <a:rPr lang="en-US" altLang="zh-CN" sz="2800" b="0" i="0">
                <a:solidFill>
                  <a:srgbClr val="000000"/>
                </a:solidFill>
                <a:latin typeface="Calibri" panose="020F0502020204030204"/>
                <a:ea typeface="Calibri" panose="020F0502020204030204"/>
              </a:rPr>
              <a:t>References</a:t>
            </a:r>
            <a:endParaRPr lang="en-US" altLang="zh-CN" sz="2800" b="0" i="0">
              <a:solidFill>
                <a:srgbClr val="000000"/>
              </a:solidFill>
              <a:latin typeface="Calibri" panose="020F0502020204030204"/>
              <a:ea typeface="Calibri" panose="020F0502020204030204"/>
            </a:endParaRPr>
          </a:p>
        </p:txBody>
      </p:sp>
      <p:sp>
        <p:nvSpPr>
          <p:cNvPr id="3" name="Text Box 2"/>
          <p:cNvSpPr txBox="1"/>
          <p:nvPr/>
        </p:nvSpPr>
        <p:spPr>
          <a:xfrm>
            <a:off x="1511935" y="6271895"/>
            <a:ext cx="6526530" cy="337185"/>
          </a:xfrm>
          <a:prstGeom prst="rect">
            <a:avLst/>
          </a:prstGeom>
        </p:spPr>
        <p:txBody>
          <a:bodyPr wrap="square">
            <a:spAutoFit/>
          </a:bodyPr>
          <a:p>
            <a:pPr algn="ctr" fontAlgn="base">
              <a:spcBef>
                <a:spcPct val="0"/>
              </a:spcBef>
              <a:spcAft>
                <a:spcPct val="0"/>
              </a:spcAft>
            </a:pPr>
            <a:r>
              <a:rPr lang="en-US" altLang="zh-CN" sz="1600" b="0" i="0">
                <a:solidFill>
                  <a:srgbClr val="888888"/>
                </a:solidFill>
                <a:latin typeface="Calibri" panose="020F0502020204030204"/>
                <a:ea typeface="Calibri" panose="020F0502020204030204"/>
              </a:rPr>
              <a:t>Exotic Flora: AI-Driven Exploration of exotic plants by image recognition</a:t>
            </a:r>
            <a:endParaRPr lang="en-US" altLang="zh-CN" sz="1600" b="0" i="0">
              <a:solidFill>
                <a:srgbClr val="888888"/>
              </a:solidFill>
              <a:latin typeface="Calibri" panose="020F0502020204030204"/>
              <a:ea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3145730" name="Google Shape;180;p5"/>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640" name="Google Shape;181;p5"/>
          <p:cNvSpPr txBox="1"/>
          <p:nvPr/>
        </p:nvSpPr>
        <p:spPr>
          <a:xfrm>
            <a:off x="457200" y="990600"/>
            <a:ext cx="8229600" cy="1143000"/>
          </a:xfrm>
          <a:prstGeom prst="rect">
            <a:avLst/>
          </a:prstGeom>
          <a:noFill/>
          <a:ln>
            <a:noFill/>
          </a:ln>
        </p:spPr>
        <p:txBody>
          <a:bodyPr spcFirstLastPara="1" wrap="square" lIns="91425" tIns="45700" rIns="91425" bIns="45700" anchor="t" anchorCtr="0">
            <a:normAutofit fontScale="90227" lnSpcReduction="20000"/>
          </a:bodyPr>
          <a:lstStyle/>
          <a:p>
            <a:pPr marL="0" marR="0" lvl="0" indent="0" algn="ctr" rtl="0">
              <a:spcBef>
                <a:spcPts val="0"/>
              </a:spcBef>
              <a:spcAft>
                <a:spcPts val="0"/>
              </a:spcAft>
              <a:buNone/>
            </a:pPr>
            <a:br>
              <a:rPr lang="en-US" sz="44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br>
            <a:r>
              <a:rPr lang="en-US" sz="4700" b="1" dirty="0">
                <a:solidFill>
                  <a:schemeClr val="dk2"/>
                </a:solidFill>
                <a:latin typeface="Times New Roman" panose="02020603050405020304"/>
                <a:ea typeface="Times New Roman" panose="02020603050405020304"/>
                <a:cs typeface="Times New Roman" panose="02020603050405020304"/>
                <a:sym typeface="Times New Roman" panose="02020603050405020304"/>
              </a:rPr>
              <a:t>INTRODUCTION</a:t>
            </a:r>
            <a:endParaRPr sz="44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41" name="Google Shape;182;p5"/>
          <p:cNvSpPr txBox="1"/>
          <p:nvPr/>
        </p:nvSpPr>
        <p:spPr>
          <a:xfrm flipH="1">
            <a:off x="350875" y="2619343"/>
            <a:ext cx="7486840" cy="230568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lvl="0" algn="just"/>
            <a:r>
              <a:rPr lang="en-US" sz="1800" dirty="0" err="1">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Exotic Flora</a:t>
            </a:r>
            <a:r>
              <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is a mobile application designed to help users identify, track, and care for exotic plants and flowers. Using advanced image processing, the app allows users to scan a plant or flower, recognize it instantly, and receive detailed information about its species. In addition, </a:t>
            </a:r>
            <a:r>
              <a:rPr lang="en-US" sz="1800" dirty="0" err="1">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ExotiCare</a:t>
            </a:r>
            <a:r>
              <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detects potential problems such as diseases or deficiencies and provides effective solutions to ensure proper care. This app bridges the gap between plant lovers and the knowledge required to nurture exotic species with ease</a:t>
            </a:r>
            <a:r>
              <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a:t>
            </a:r>
            <a:endParaRPr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48642" name="Google Shape;18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23/04/2026</a:t>
            </a:r>
            <a:endParaRPr lang="en-US" dirty="0"/>
          </a:p>
          <a:p>
            <a:pPr marL="0" lvl="0" indent="0" algn="l" rtl="0">
              <a:spcBef>
                <a:spcPts val="0"/>
              </a:spcBef>
              <a:spcAft>
                <a:spcPts val="0"/>
              </a:spcAft>
              <a:buNone/>
            </a:pPr>
            <a:endParaRPr dirty="0"/>
          </a:p>
        </p:txBody>
      </p:sp>
      <p:sp>
        <p:nvSpPr>
          <p:cNvPr id="1048644" name="Google Shape;1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097157"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1048645" name="Rectangle 1"/>
          <p:cNvSpPr/>
          <p:nvPr/>
        </p:nvSpPr>
        <p:spPr>
          <a:xfrm>
            <a:off x="350875" y="2265400"/>
            <a:ext cx="8001000" cy="706755"/>
          </a:xfrm>
          <a:prstGeom prst="rect">
            <a:avLst/>
          </a:prstGeom>
        </p:spPr>
        <p:txBody>
          <a:bodyPr wrap="square">
            <a:spAutoFit/>
          </a:bodyPr>
          <a:lstStyle/>
          <a:p>
            <a:pPr lvl="0"/>
            <a:r>
              <a:rPr lang="en-US" sz="2400" b="1" dirty="0">
                <a:latin typeface="Times New Roman" panose="02020603050405020304" pitchFamily="18" charset="0"/>
                <a:cs typeface="Times New Roman" panose="02020603050405020304" pitchFamily="18" charset="0"/>
              </a:rPr>
              <a:t>What is a </a:t>
            </a:r>
            <a:r>
              <a:rPr lang="en-IN" sz="2400" b="1" dirty="0" err="1">
                <a:latin typeface="Times New Roman" panose="02020603050405020304" pitchFamily="18" charset="0"/>
                <a:cs typeface="Times New Roman" panose="02020603050405020304" pitchFamily="18" charset="0"/>
              </a:rPr>
              <a:t>Exotic</a:t>
            </a:r>
            <a:r>
              <a:rPr lang="en-US" altLang="en-IN" sz="2400" b="1" dirty="0" err="1">
                <a:latin typeface="Times New Roman" panose="02020603050405020304" pitchFamily="18" charset="0"/>
                <a:cs typeface="Times New Roman" panose="02020603050405020304" pitchFamily="18" charset="0"/>
              </a:rPr>
              <a:t>Flora</a:t>
            </a:r>
            <a:r>
              <a:rPr lang="en-US" sz="2400" b="1" dirty="0">
                <a:latin typeface="Times New Roman" panose="02020603050405020304" pitchFamily="18" charset="0"/>
                <a:cs typeface="Times New Roman" panose="02020603050405020304" pitchFamily="18" charset="0"/>
              </a:rPr>
              <a:t>?</a:t>
            </a:r>
            <a:br>
              <a:rPr lang="en-US" sz="2400" dirty="0"/>
            </a:br>
            <a:endParaRPr lang="en-US" sz="1600" dirty="0"/>
          </a:p>
        </p:txBody>
      </p:sp>
      <p:sp>
        <p:nvSpPr>
          <p:cNvPr id="2" name="Text Box 1"/>
          <p:cNvSpPr txBox="1"/>
          <p:nvPr/>
        </p:nvSpPr>
        <p:spPr>
          <a:xfrm>
            <a:off x="1808480" y="6279515"/>
            <a:ext cx="6286500"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3145731" name="Google Shape;180;p5"/>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652" name="Google Shape;181;p5"/>
          <p:cNvSpPr txBox="1"/>
          <p:nvPr/>
        </p:nvSpPr>
        <p:spPr>
          <a:xfrm>
            <a:off x="457200" y="990600"/>
            <a:ext cx="8229600" cy="6874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None/>
            </a:pPr>
            <a:r>
              <a:rPr lang="en-US" sz="3600" b="1" u="sng" dirty="0">
                <a:solidFill>
                  <a:schemeClr val="dk2"/>
                </a:solidFill>
                <a:latin typeface="Times New Roman" panose="02020603050405020304"/>
                <a:ea typeface="Calibri" panose="020F0502020204030204"/>
                <a:cs typeface="Times New Roman" panose="02020603050405020304"/>
                <a:sym typeface="Times New Roman" panose="02020603050405020304"/>
              </a:rPr>
              <a:t>LITERATURE SURVEY</a:t>
            </a:r>
            <a:endParaRPr sz="36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54" name="Google Shape;1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097158"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1048655" name="Rectangle 1"/>
          <p:cNvSpPr/>
          <p:nvPr/>
        </p:nvSpPr>
        <p:spPr>
          <a:xfrm>
            <a:off x="389603" y="2188686"/>
            <a:ext cx="8115300" cy="2306955"/>
          </a:xfrm>
          <a:prstGeom prst="rect">
            <a:avLst/>
          </a:prstGeom>
        </p:spPr>
        <p:txBody>
          <a:bodyPr wrap="square">
            <a:spAutoFit/>
          </a:bodyPr>
          <a:lstStyle/>
          <a:p>
            <a:pPr algn="just"/>
            <a:r>
              <a:rPr lang="en-US" sz="1800" dirty="0">
                <a:latin typeface="Times New Roman" panose="02020603050405020304" pitchFamily="18" charset="0"/>
                <a:ea typeface="Times New Roman" panose="02020603050405020304" pitchFamily="18" charset="0"/>
              </a:rPr>
              <a:t>Plant disease detection has evolved from classical image processing to deep learning approaches using datasets like </a:t>
            </a:r>
            <a:r>
              <a:rPr lang="en-US" sz="1800" dirty="0" err="1">
                <a:latin typeface="Times New Roman" panose="02020603050405020304" pitchFamily="18" charset="0"/>
                <a:ea typeface="Times New Roman" panose="02020603050405020304" pitchFamily="18" charset="0"/>
              </a:rPr>
              <a:t>PlantVillage</a:t>
            </a:r>
            <a:r>
              <a:rPr lang="en-US" sz="1800" dirty="0">
                <a:latin typeface="Times New Roman" panose="02020603050405020304" pitchFamily="18" charset="0"/>
                <a:ea typeface="Times New Roman" panose="02020603050405020304" pitchFamily="18" charset="0"/>
              </a:rPr>
              <a:t>, where CNNs achieved high accuracy. Lightweight models such as </a:t>
            </a:r>
            <a:r>
              <a:rPr lang="en-US" sz="1800" dirty="0" err="1">
                <a:latin typeface="Times New Roman" panose="02020603050405020304" pitchFamily="18" charset="0"/>
                <a:ea typeface="Times New Roman" panose="02020603050405020304" pitchFamily="18" charset="0"/>
              </a:rPr>
              <a:t>MobileNet</a:t>
            </a:r>
            <a:r>
              <a:rPr lang="en-US" sz="1800" dirty="0">
                <a:latin typeface="Times New Roman" panose="02020603050405020304" pitchFamily="18" charset="0"/>
                <a:ea typeface="Times New Roman" panose="02020603050405020304" pitchFamily="18" charset="0"/>
              </a:rPr>
              <a:t> now enable real-time diagnosis on mobile devices, and apps like </a:t>
            </a:r>
            <a:r>
              <a:rPr lang="en-US" sz="1800" dirty="0" err="1">
                <a:latin typeface="Times New Roman" panose="02020603050405020304" pitchFamily="18" charset="0"/>
                <a:ea typeface="Times New Roman" panose="02020603050405020304" pitchFamily="18" charset="0"/>
              </a:rPr>
              <a:t>Plantix</a:t>
            </a:r>
            <a:r>
              <a:rPr lang="en-US" sz="1800" dirty="0">
                <a:latin typeface="Times New Roman" panose="02020603050405020304" pitchFamily="18" charset="0"/>
                <a:ea typeface="Times New Roman" panose="02020603050405020304" pitchFamily="18" charset="0"/>
              </a:rPr>
              <a:t> show practical adoption in agriculture. Recent studies also explore transformers, attention models, and few-shot learning for better performance. However, most work focuses on common crops and leaves, leaving a gap for exotic and ornamental plants. This highlights the need for Exotic Flora, a mobile app tailored to identify and address problems in rare flowers and plants.</a:t>
            </a:r>
            <a:endParaRPr lang="en-IN" sz="1800" dirty="0">
              <a:latin typeface="Times New Roman" panose="02020603050405020304" pitchFamily="18" charset="0"/>
              <a:ea typeface="Times New Roman" panose="02020603050405020304" pitchFamily="18" charset="0"/>
            </a:endParaRPr>
          </a:p>
        </p:txBody>
      </p:sp>
      <p:sp>
        <p:nvSpPr>
          <p:cNvPr id="1048656" name="Rectangle 5"/>
          <p:cNvSpPr>
            <a:spLocks noChangeArrowheads="1"/>
          </p:cNvSpPr>
          <p:nvPr/>
        </p:nvSpPr>
        <p:spPr bwMode="auto">
          <a:xfrm>
            <a:off x="0" y="-323165"/>
            <a:ext cx="328936" cy="646331"/>
          </a:xfrm>
          <a:prstGeom prst="rect">
            <a:avLst/>
          </a:prstGeom>
          <a:noFill/>
          <a:ln>
            <a:noFill/>
          </a:ln>
          <a:effec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sz="1800" b="0" i="0" u="none" strike="noStrike" cap="none" normalizeH="0" baseline="0" dirty="0">
                <a:ln>
                  <a:noFill/>
                </a:ln>
                <a:solidFill>
                  <a:schemeClr val="tx1"/>
                </a:solidFill>
                <a:effectLst/>
                <a:latin typeface="Arial" panose="020B0604020202020204" pitchFamily="34" charset="0"/>
              </a:rPr>
              <a:t>.</a:t>
            </a:r>
            <a:endParaRPr kumimoji="0" 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2" name="Text Box 1"/>
          <p:cNvSpPr txBox="1"/>
          <p:nvPr/>
        </p:nvSpPr>
        <p:spPr>
          <a:xfrm>
            <a:off x="1567815" y="6291580"/>
            <a:ext cx="6755765"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
        <p:nvSpPr>
          <p:cNvPr id="3" name="Text Box 2"/>
          <p:cNvSpPr txBox="1"/>
          <p:nvPr/>
        </p:nvSpPr>
        <p:spPr>
          <a:xfrm>
            <a:off x="245745" y="6291580"/>
            <a:ext cx="1322070" cy="368935"/>
          </a:xfrm>
          <a:prstGeom prst="rect">
            <a:avLst/>
          </a:prstGeom>
          <a:noFill/>
        </p:spPr>
        <p:txBody>
          <a:bodyPr wrap="square" rtlCol="0" anchor="t">
            <a:noAutofit/>
          </a:bodyPr>
          <a:p>
            <a:r>
              <a:rPr lang="en-US" dirty="0">
                <a:sym typeface="+mn-ea"/>
              </a:rPr>
              <a:t>23/04/2026</a:t>
            </a:r>
            <a:endParaRPr lang="en-US" dirty="0"/>
          </a:p>
          <a:p>
            <a:pPr marL="0" lvl="0" indent="0" algn="l" rtl="0">
              <a:spcBef>
                <a:spcPts val="0"/>
              </a:spcBef>
              <a:spcAft>
                <a:spcPts val="0"/>
              </a:spcAft>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3145732" name="Google Shape;180;p5"/>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663" name="Google Shape;181;p5"/>
          <p:cNvSpPr txBox="1"/>
          <p:nvPr/>
        </p:nvSpPr>
        <p:spPr>
          <a:xfrm>
            <a:off x="350875" y="838200"/>
            <a:ext cx="8229600" cy="1143000"/>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ctr" rtl="0">
              <a:spcBef>
                <a:spcPts val="0"/>
              </a:spcBef>
              <a:spcAft>
                <a:spcPts val="0"/>
              </a:spcAft>
              <a:buNone/>
            </a:pPr>
            <a:br>
              <a:rPr lang="en-US" sz="44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br>
            <a:r>
              <a:rPr lang="en-US" sz="44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PROBLEM STATEMENT </a:t>
            </a:r>
            <a:endParaRPr sz="44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64" name="Google Shape;182;p5"/>
          <p:cNvSpPr txBox="1"/>
          <p:nvPr/>
        </p:nvSpPr>
        <p:spPr>
          <a:xfrm flipH="1">
            <a:off x="686039" y="2200256"/>
            <a:ext cx="7894675" cy="1197610"/>
          </a:xfrm>
          <a:prstGeom prst="rect">
            <a:avLst/>
          </a:prstGeom>
          <a:noFill/>
          <a:ln>
            <a:noFill/>
          </a:ln>
        </p:spPr>
        <p:txBody>
          <a:bodyPr spcFirstLastPara="1" wrap="square" lIns="91425" tIns="45700" rIns="91425" bIns="45700" anchor="t" anchorCtr="0">
            <a:spAutoFit/>
          </a:bodyPr>
          <a:lstStyle/>
          <a:p>
            <a:pPr lvl="0"/>
            <a:r>
              <a:rPr lang="en-US" sz="2400" b="1" dirty="0">
                <a:latin typeface="Times New Roman" panose="02020603050405020304" pitchFamily="18" charset="0"/>
                <a:cs typeface="Times New Roman" panose="02020603050405020304" pitchFamily="18" charset="0"/>
              </a:rPr>
              <a:t>Why </a:t>
            </a:r>
            <a:r>
              <a:rPr lang="en-IN" sz="2400" b="1" dirty="0" err="1">
                <a:latin typeface="Times New Roman" panose="02020603050405020304" pitchFamily="18" charset="0"/>
                <a:cs typeface="Times New Roman" panose="02020603050405020304" pitchFamily="18" charset="0"/>
              </a:rPr>
              <a:t>Exotic</a:t>
            </a:r>
            <a:r>
              <a:rPr lang="en-US" altLang="en-IN" sz="2400" b="1" dirty="0" err="1">
                <a:latin typeface="Times New Roman" panose="02020603050405020304" pitchFamily="18" charset="0"/>
                <a:cs typeface="Times New Roman" panose="02020603050405020304" pitchFamily="18" charset="0"/>
              </a:rPr>
              <a:t> Flora</a:t>
            </a:r>
            <a:r>
              <a:rPr lang="en-US" sz="2400" b="1"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0"/>
            <a:endParaRPr lang="en-US" sz="2400" b="1" dirty="0"/>
          </a:p>
          <a:p>
            <a:pPr lvl="0"/>
            <a:endParaRPr lang="en-US" sz="2400" b="1" dirty="0"/>
          </a:p>
        </p:txBody>
      </p:sp>
      <p:sp>
        <p:nvSpPr>
          <p:cNvPr id="1048665" name="Google Shape;18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23/04/2026</a:t>
            </a:r>
            <a:endParaRPr lang="en-US" dirty="0"/>
          </a:p>
          <a:p>
            <a:pPr marL="0" lvl="0" indent="0" algn="l" rtl="0">
              <a:spcBef>
                <a:spcPts val="0"/>
              </a:spcBef>
              <a:spcAft>
                <a:spcPts val="0"/>
              </a:spcAft>
              <a:buNone/>
            </a:pPr>
            <a:endParaRPr dirty="0"/>
          </a:p>
        </p:txBody>
      </p:sp>
      <p:sp>
        <p:nvSpPr>
          <p:cNvPr id="1048667" name="Google Shape;1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097159"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1048668" name="Rectangle 2"/>
          <p:cNvSpPr/>
          <p:nvPr/>
        </p:nvSpPr>
        <p:spPr>
          <a:xfrm rot="5400000">
            <a:off x="4031595" y="3275112"/>
            <a:ext cx="184731" cy="307777"/>
          </a:xfrm>
          <a:prstGeom prst="rect">
            <a:avLst/>
          </a:prstGeom>
        </p:spPr>
        <p:txBody>
          <a:bodyPr wrap="none">
            <a:spAutoFit/>
          </a:bodyPr>
          <a:lstStyle/>
          <a:p>
            <a:endParaRPr lang="en-IN" dirty="0"/>
          </a:p>
        </p:txBody>
      </p:sp>
      <p:sp>
        <p:nvSpPr>
          <p:cNvPr id="1048669" name="Rectangle 2"/>
          <p:cNvSpPr>
            <a:spLocks noChangeArrowheads="1"/>
          </p:cNvSpPr>
          <p:nvPr/>
        </p:nvSpPr>
        <p:spPr bwMode="auto">
          <a:xfrm>
            <a:off x="686039" y="2852470"/>
            <a:ext cx="7559271" cy="2031325"/>
          </a:xfrm>
          <a:prstGeom prst="rect">
            <a:avLst/>
          </a:prstGeom>
          <a:noFill/>
          <a:ln>
            <a:noFill/>
          </a:ln>
          <a:effectLst/>
        </p:spPr>
        <p:txBody>
          <a:bodyPr vert="horz" wrap="square" lIns="91440" tIns="45720" rIns="91440" bIns="45720" numCol="1" anchor="ctr" anchorCtr="0" compatLnSpc="1">
            <a:spAutoFit/>
          </a:bodyPr>
          <a:lstStyle/>
          <a:p>
            <a:pPr lvl="0" algn="just"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Exotic plants and flowers are admired for their beauty, but many people struggle to identify them and provide the right care. Without proper knowledge, it becomes difficult to recognize plant diseases, deficiencies, or environmental issues. This lack of awareness often leads to poor maintenance, unhealthy growth, and even loss of rare plants. There is a need for a smart solution that can assist users in identifying plants, diagnosing problems, and suggesting effective care methods.</a:t>
            </a:r>
            <a:endParaRPr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1741805" y="6299200"/>
            <a:ext cx="6152515"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3145733" name="Google Shape;180;p5"/>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676" name="Google Shape;181;p5"/>
          <p:cNvSpPr txBox="1"/>
          <p:nvPr/>
        </p:nvSpPr>
        <p:spPr>
          <a:xfrm>
            <a:off x="350875" y="714376"/>
            <a:ext cx="8229600" cy="842962"/>
          </a:xfrm>
          <a:prstGeom prst="rect">
            <a:avLst/>
          </a:prstGeom>
          <a:noFill/>
          <a:ln>
            <a:noFill/>
          </a:ln>
        </p:spPr>
        <p:txBody>
          <a:bodyPr spcFirstLastPara="1" wrap="square" lIns="91425" tIns="45700" rIns="91425" bIns="45700" anchor="t" anchorCtr="0">
            <a:normAutofit fontScale="67500" lnSpcReduction="20000"/>
          </a:bodyPr>
          <a:lstStyle/>
          <a:p>
            <a:pPr marL="0" marR="0" lvl="0" indent="0" algn="ctr" rtl="0">
              <a:spcBef>
                <a:spcPts val="0"/>
              </a:spcBef>
              <a:spcAft>
                <a:spcPts val="0"/>
              </a:spcAft>
              <a:buNone/>
            </a:pPr>
            <a:br>
              <a:rPr lang="en-US" sz="44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br>
            <a:r>
              <a:rPr lang="en-US" sz="40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AIMS AND OBJECTIVES  </a:t>
            </a:r>
            <a:endParaRPr sz="40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77" name="Google Shape;182;p5"/>
          <p:cNvSpPr txBox="1"/>
          <p:nvPr/>
        </p:nvSpPr>
        <p:spPr>
          <a:xfrm flipH="1">
            <a:off x="695325" y="1905635"/>
            <a:ext cx="7505065" cy="11239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AIMS</a:t>
            </a:r>
            <a:endParaRPr lang="en-US" sz="24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lvl="0" algn="just" eaLnBrk="0" fontAlgn="base" hangingPunct="0">
              <a:spcBef>
                <a:spcPct val="0"/>
              </a:spcBef>
              <a:spcAft>
                <a:spcPct val="0"/>
              </a:spcAft>
              <a:buClrTx/>
            </a:pPr>
            <a:r>
              <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To develop a mobile app that helps users identify, track, and care for exotic plants and flowers using image processing.</a:t>
            </a:r>
            <a:endPar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lvl="0" eaLnBrk="0" fontAlgn="base" hangingPunct="0">
              <a:spcBef>
                <a:spcPct val="0"/>
              </a:spcBef>
              <a:spcAft>
                <a:spcPct val="0"/>
              </a:spcAft>
              <a:buClrTx/>
            </a:pPr>
            <a:endPar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r>
              <a:rPr lang="en-US" sz="24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OBJECTIVES</a:t>
            </a:r>
            <a:r>
              <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endPar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endPar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endPar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endParaRPr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48679" name="Google Shape;1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dirty="0"/>
          </a:p>
        </p:txBody>
      </p:sp>
      <p:pic>
        <p:nvPicPr>
          <p:cNvPr id="2097160"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2" name="Rectangle 1"/>
          <p:cNvSpPr>
            <a:spLocks noChangeArrowheads="1"/>
          </p:cNvSpPr>
          <p:nvPr/>
        </p:nvSpPr>
        <p:spPr bwMode="auto">
          <a:xfrm>
            <a:off x="648376" y="3469770"/>
            <a:ext cx="8070548"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lvl="0" indent="-285750" algn="just" eaLnBrk="0" fontAlgn="base" hangingPunct="0">
              <a:spcBef>
                <a:spcPct val="0"/>
              </a:spcBef>
              <a:spcAft>
                <a:spcPct val="0"/>
              </a:spcAft>
              <a:buClr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Identify exotic plants/flowers by scanning</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Detect problems and diseases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Provide proper care tips and solutions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Maintain a database to track plant health.</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 Box 2"/>
          <p:cNvSpPr txBox="1"/>
          <p:nvPr/>
        </p:nvSpPr>
        <p:spPr>
          <a:xfrm>
            <a:off x="1727200" y="6250940"/>
            <a:ext cx="6738620"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
        <p:nvSpPr>
          <p:cNvPr id="4" name="Text Box 3"/>
          <p:cNvSpPr txBox="1"/>
          <p:nvPr/>
        </p:nvSpPr>
        <p:spPr>
          <a:xfrm>
            <a:off x="283845" y="6250940"/>
            <a:ext cx="1191895" cy="311785"/>
          </a:xfrm>
          <a:prstGeom prst="rect">
            <a:avLst/>
          </a:prstGeom>
          <a:noFill/>
        </p:spPr>
        <p:txBody>
          <a:bodyPr wrap="square" rtlCol="0" anchor="t">
            <a:noAutofit/>
          </a:bodyPr>
          <a:p>
            <a:pPr marL="0" lvl="0" indent="0" algn="ctr" rtl="0">
              <a:spcBef>
                <a:spcPts val="0"/>
              </a:spcBef>
              <a:spcAft>
                <a:spcPts val="0"/>
              </a:spcAft>
              <a:buNone/>
            </a:pPr>
            <a:r>
              <a:rPr lang="en-US" dirty="0">
                <a:latin typeface="Calibri" panose="020F0502020204030204" charset="0"/>
                <a:cs typeface="Calibri" panose="020F0502020204030204" charset="0"/>
                <a:sym typeface="+mn-ea"/>
              </a:rPr>
              <a:t>23/04/2026</a:t>
            </a:r>
            <a:endParaRPr lang="en-US" dirty="0">
              <a:latin typeface="Calibri" panose="020F0502020204030204" charset="0"/>
              <a:cs typeface="Calibri" panose="020F0502020204030204" charset="0"/>
            </a:endParaRPr>
          </a:p>
          <a:p>
            <a:pPr marL="0" lvl="0" indent="0" algn="ctr" rtl="0">
              <a:spcBef>
                <a:spcPts val="0"/>
              </a:spcBef>
              <a:spcAft>
                <a:spcPts val="0"/>
              </a:spcAft>
              <a:buNone/>
            </a:pPr>
            <a:endParaRPr lang="en-US" dirty="0">
              <a:latin typeface="Calibri" panose="020F0502020204030204" charset="0"/>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2010410" y="1012190"/>
            <a:ext cx="5719445" cy="741045"/>
          </a:xfrm>
        </p:spPr>
        <p:txBody>
          <a:bodyPr>
            <a:normAutofit fontScale="90000"/>
          </a:bodyPr>
          <a:p>
            <a:r>
              <a:rPr lang="en-US" sz="30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SYSTEM ANALYSIS AND DESIGN</a:t>
            </a:r>
            <a:endParaRPr lang="en-US" sz="3000"/>
          </a:p>
        </p:txBody>
      </p:sp>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2097160"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6" name="Text Box 5"/>
          <p:cNvSpPr txBox="1"/>
          <p:nvPr/>
        </p:nvSpPr>
        <p:spPr>
          <a:xfrm>
            <a:off x="543560" y="1753235"/>
            <a:ext cx="8220075" cy="4580255"/>
          </a:xfrm>
          <a:prstGeom prst="rect">
            <a:avLst/>
          </a:prstGeom>
          <a:noFill/>
        </p:spPr>
        <p:txBody>
          <a:bodyPr wrap="square" rtlCol="0" anchor="t">
            <a:noAutofit/>
          </a:bodyPr>
          <a:p>
            <a:pPr lvl="0" algn="just" eaLnBrk="0" fontAlgn="base" hangingPunct="0">
              <a:spcBef>
                <a:spcPct val="0"/>
              </a:spcBef>
              <a:spcAft>
                <a:spcPct val="0"/>
              </a:spcAft>
              <a:buClrTx/>
            </a:pPr>
            <a:r>
              <a:rPr lang="en-US" altLang="en-US" sz="2400" b="1">
                <a:latin typeface="Times New Roman" panose="02020603050405020304" pitchFamily="18" charset="0"/>
                <a:cs typeface="Times New Roman" panose="02020603050405020304" pitchFamily="18" charset="0"/>
                <a:sym typeface="+mn-ea"/>
              </a:rPr>
              <a:t>System Analysis</a:t>
            </a:r>
            <a:endParaRPr lang="en-US" altLang="en-US" sz="2400" b="1">
              <a:latin typeface="Times New Roman" panose="02020603050405020304" pitchFamily="18" charset="0"/>
              <a:cs typeface="Times New Roman" panose="02020603050405020304" pitchFamily="18" charset="0"/>
            </a:endParaRPr>
          </a:p>
          <a:p>
            <a:pPr marL="400050" indent="-285750">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sym typeface="+mn-ea"/>
              </a:rPr>
              <a:t>The system is designed to understand the needs of users who face difficulties in identifying and caring for exotic plants.</a:t>
            </a:r>
            <a:endParaRPr lang="en-US" altLang="en-US" sz="1800">
              <a:latin typeface="Times New Roman" panose="02020603050405020304" pitchFamily="18" charset="0"/>
              <a:cs typeface="Times New Roman" panose="02020603050405020304" pitchFamily="18" charset="0"/>
            </a:endParaRPr>
          </a:p>
          <a:p>
            <a:pPr marL="400050" indent="-285750">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sym typeface="+mn-ea"/>
              </a:rPr>
              <a:t>It analyzes problems like lack of knowledge, disease detection, and improper plant maintenance.</a:t>
            </a:r>
            <a:endParaRPr lang="en-US" altLang="en-US" sz="1800">
              <a:latin typeface="Times New Roman" panose="02020603050405020304" pitchFamily="18" charset="0"/>
              <a:cs typeface="Times New Roman" panose="02020603050405020304" pitchFamily="18" charset="0"/>
            </a:endParaRPr>
          </a:p>
          <a:p>
            <a:pPr marL="400050" indent="-285750">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sym typeface="+mn-ea"/>
              </a:rPr>
              <a:t>The application provides a smart solution using image processing and AI to simplify plant care and improve plant health management.</a:t>
            </a:r>
            <a:endParaRPr lang="en-US" altLang="en-US" sz="1800">
              <a:latin typeface="Times New Roman" panose="02020603050405020304" pitchFamily="18" charset="0"/>
              <a:cs typeface="Times New Roman" panose="02020603050405020304" pitchFamily="18" charset="0"/>
              <a:sym typeface="+mn-ea"/>
            </a:endParaRPr>
          </a:p>
          <a:p>
            <a:pPr marL="114300" indent="0">
              <a:buFont typeface="Arial" panose="020B0604020202020204" pitchFamily="34" charset="0"/>
              <a:buNone/>
            </a:pPr>
            <a:endPar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r>
              <a:rPr lang="en-US" altLang="en-US" sz="2400" b="1">
                <a:latin typeface="Times New Roman" panose="02020603050405020304" pitchFamily="18" charset="0"/>
                <a:cs typeface="Times New Roman" panose="02020603050405020304" pitchFamily="18" charset="0"/>
                <a:sym typeface="+mn-ea"/>
              </a:rPr>
              <a:t>System Design</a:t>
            </a:r>
            <a:endParaRPr lang="en-US" altLang="en-US" sz="2400" b="1">
              <a:latin typeface="Times New Roman" panose="02020603050405020304" pitchFamily="18" charset="0"/>
              <a:cs typeface="Times New Roman" panose="02020603050405020304" pitchFamily="18" charset="0"/>
            </a:endParaRPr>
          </a:p>
          <a:p>
            <a:pPr marL="114300" indent="0">
              <a:buNone/>
            </a:pPr>
            <a:r>
              <a:rPr lang="en-US" altLang="en-US" sz="1800">
                <a:latin typeface="Times New Roman" panose="02020603050405020304" pitchFamily="18" charset="0"/>
                <a:cs typeface="Times New Roman" panose="02020603050405020304" pitchFamily="18" charset="0"/>
                <a:sym typeface="+mn-ea"/>
              </a:rPr>
              <a:t>The system consists of the following main components:</a:t>
            </a:r>
            <a:endParaRPr lang="en-US" altLang="en-US" sz="1800">
              <a:latin typeface="Times New Roman" panose="02020603050405020304" pitchFamily="18" charset="0"/>
              <a:cs typeface="Times New Roman" panose="02020603050405020304" pitchFamily="18" charset="0"/>
            </a:endParaRPr>
          </a:p>
          <a:p>
            <a:pPr marL="400050" indent="-285750" algn="l">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sym typeface="+mn-ea"/>
              </a:rPr>
              <a:t>Image Input Module – Captures plant images using the camera</a:t>
            </a:r>
            <a:endParaRPr lang="en-US" altLang="en-US" sz="1800">
              <a:latin typeface="Times New Roman" panose="02020603050405020304" pitchFamily="18" charset="0"/>
              <a:cs typeface="Times New Roman" panose="02020603050405020304" pitchFamily="18" charset="0"/>
            </a:endParaRPr>
          </a:p>
          <a:p>
            <a:pPr marL="400050" indent="-285750" algn="l">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sym typeface="+mn-ea"/>
              </a:rPr>
              <a:t>Processing Module – Uses CNN for plant identification and disease detection</a:t>
            </a:r>
            <a:endParaRPr lang="en-US" altLang="en-US" sz="1800">
              <a:latin typeface="Times New Roman" panose="02020603050405020304" pitchFamily="18" charset="0"/>
              <a:cs typeface="Times New Roman" panose="02020603050405020304" pitchFamily="18" charset="0"/>
            </a:endParaRPr>
          </a:p>
          <a:p>
            <a:pPr marL="400050" indent="-285750" algn="l">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sym typeface="+mn-ea"/>
              </a:rPr>
              <a:t>Database Module – Stores plant information and user data</a:t>
            </a:r>
            <a:endParaRPr lang="en-US" altLang="en-US" sz="1800">
              <a:latin typeface="Times New Roman" panose="02020603050405020304" pitchFamily="18" charset="0"/>
              <a:cs typeface="Times New Roman" panose="02020603050405020304" pitchFamily="18" charset="0"/>
            </a:endParaRPr>
          </a:p>
          <a:p>
            <a:pPr marL="400050" indent="-285750" algn="l">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sym typeface="+mn-ea"/>
              </a:rPr>
              <a:t>Recommendation Module – Provides care tips and solutions</a:t>
            </a:r>
            <a:endParaRPr lang="en-US" altLang="en-US" sz="1800">
              <a:latin typeface="Times New Roman" panose="02020603050405020304" pitchFamily="18" charset="0"/>
              <a:cs typeface="Times New Roman" panose="02020603050405020304" pitchFamily="18" charset="0"/>
            </a:endParaRPr>
          </a:p>
          <a:p>
            <a:pPr marL="400050" indent="-285750" algn="l">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sym typeface="+mn-ea"/>
              </a:rPr>
              <a:t>User Interface – Simple and user-friendly app design</a:t>
            </a:r>
            <a:endParaRPr lang="en-US" altLang="en-US" sz="1800">
              <a:latin typeface="Times New Roman" panose="02020603050405020304" pitchFamily="18" charset="0"/>
              <a:cs typeface="Times New Roman" panose="02020603050405020304" pitchFamily="18" charset="0"/>
            </a:endParaRPr>
          </a:p>
          <a:p>
            <a:endPar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lvl="0" indent="0" algn="l" rtl="0">
              <a:spcBef>
                <a:spcPts val="0"/>
              </a:spcBef>
              <a:spcAft>
                <a:spcPts val="0"/>
              </a:spcAft>
              <a:buNone/>
            </a:pPr>
            <a:r>
              <a:rPr lang="en-US" dirty="0">
                <a:latin typeface="Calibri" panose="020F0502020204030204" charset="0"/>
                <a:cs typeface="Calibri" panose="020F0502020204030204" charset="0"/>
                <a:sym typeface="+mn-ea"/>
              </a:rPr>
              <a:t>23/04/2026</a:t>
            </a:r>
            <a:endParaRPr lang="en-US" dirty="0">
              <a:latin typeface="Calibri" panose="020F0502020204030204" charset="0"/>
              <a:cs typeface="Calibri" panose="020F0502020204030204" charset="0"/>
            </a:endParaRPr>
          </a:p>
          <a:p>
            <a:pPr marL="0" lvl="0" indent="0" algn="l" rtl="0">
              <a:spcBef>
                <a:spcPts val="0"/>
              </a:spcBef>
              <a:spcAft>
                <a:spcPts val="0"/>
              </a:spcAft>
              <a:buNone/>
            </a:pPr>
            <a:endParaRPr sz="1800" dirty="0"/>
          </a:p>
          <a:p>
            <a:endPar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endParaRPr lang="en-US"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7" name="Text Box 6"/>
          <p:cNvSpPr txBox="1"/>
          <p:nvPr/>
        </p:nvSpPr>
        <p:spPr>
          <a:xfrm>
            <a:off x="1746250" y="6333490"/>
            <a:ext cx="6248400"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3145734" name="Google Shape;180;p5"/>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687" name="Google Shape;181;p5"/>
          <p:cNvSpPr txBox="1"/>
          <p:nvPr/>
        </p:nvSpPr>
        <p:spPr>
          <a:xfrm>
            <a:off x="350875" y="714376"/>
            <a:ext cx="8229600" cy="842962"/>
          </a:xfrm>
          <a:prstGeom prst="rect">
            <a:avLst/>
          </a:prstGeom>
          <a:noFill/>
          <a:ln>
            <a:noFill/>
          </a:ln>
        </p:spPr>
        <p:txBody>
          <a:bodyPr spcFirstLastPara="1" wrap="square" lIns="91425" tIns="45700" rIns="91425" bIns="45700" anchor="t" anchorCtr="0">
            <a:normAutofit fontScale="67500" lnSpcReduction="20000"/>
          </a:bodyPr>
          <a:lstStyle/>
          <a:p>
            <a:pPr marL="0" marR="0" lvl="0" indent="0" algn="ctr" rtl="0">
              <a:spcBef>
                <a:spcPts val="0"/>
              </a:spcBef>
              <a:spcAft>
                <a:spcPts val="0"/>
              </a:spcAft>
              <a:buNone/>
            </a:pPr>
            <a:br>
              <a:rPr lang="en-US" sz="44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br>
            <a:r>
              <a:rPr lang="en-US" sz="40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MET</a:t>
            </a:r>
            <a:r>
              <a:rPr lang="en-US" altLang="en-IN" sz="40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HO</a:t>
            </a:r>
            <a:r>
              <a:rPr lang="en-US" sz="40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DOLOGY   </a:t>
            </a:r>
            <a:endParaRPr sz="40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88" name="Google Shape;184;p5"/>
          <p:cNvSpPr txBox="1">
            <a:spLocks noGrp="1"/>
          </p:cNvSpPr>
          <p:nvPr>
            <p:ph type="dt" idx="10"/>
          </p:nvPr>
        </p:nvSpPr>
        <p:spPr>
          <a:xfrm>
            <a:off x="350875" y="6327140"/>
            <a:ext cx="2133600" cy="365125"/>
          </a:xfrm>
          <a:prstGeom prst="rect">
            <a:avLst/>
          </a:prstGeom>
          <a:noFill/>
          <a:ln>
            <a:noFill/>
          </a:ln>
        </p:spPr>
        <p:txBody>
          <a:bodyPr spcFirstLastPara="1" wrap="square" lIns="91425" tIns="45700" rIns="91425" bIns="45700" anchor="ctr" anchorCtr="0">
            <a:noAutofit/>
          </a:bodyPr>
          <a:lstStyle/>
          <a:p>
            <a:r>
              <a:rPr lang="en-US" dirty="0"/>
              <a:t>23/04/2026</a:t>
            </a:r>
            <a:endParaRPr dirty="0"/>
          </a:p>
        </p:txBody>
      </p:sp>
      <p:sp>
        <p:nvSpPr>
          <p:cNvPr id="1048690" name="Google Shape;1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097161"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2" name="Text Box 1"/>
          <p:cNvSpPr txBox="1"/>
          <p:nvPr/>
        </p:nvSpPr>
        <p:spPr>
          <a:xfrm>
            <a:off x="1731010" y="6339205"/>
            <a:ext cx="5682615" cy="306705"/>
          </a:xfrm>
          <a:prstGeom prst="rect">
            <a:avLst/>
          </a:prstGeom>
          <a:noFill/>
        </p:spPr>
        <p:txBody>
          <a:bodyPr wrap="square" rtlCol="0" anchor="t">
            <a:spAutoFit/>
          </a:bodyPr>
          <a:p>
            <a:pPr algn="ctr" fontAlgn="base">
              <a:spcBef>
                <a:spcPct val="0"/>
              </a:spcBef>
              <a:spcAft>
                <a:spcPct val="0"/>
              </a:spcAft>
            </a:pPr>
            <a:r>
              <a:rPr lang="en-US" altLang="zh-CN">
                <a:solidFill>
                  <a:srgbClr val="888888"/>
                </a:solidFill>
                <a:latin typeface="Calibri" panose="020F0502020204030204"/>
                <a:ea typeface="Calibri" panose="020F0502020204030204"/>
                <a:sym typeface="+mn-ea"/>
              </a:rPr>
              <a:t>Exotic Flora: AI-Driven Exploration of exotic plants by image recognition</a:t>
            </a:r>
            <a:endParaRPr lang="en-US" altLang="zh-CN">
              <a:solidFill>
                <a:srgbClr val="888888"/>
              </a:solidFill>
              <a:latin typeface="Calibri" panose="020F0502020204030204"/>
              <a:ea typeface="Calibri" panose="020F0502020204030204"/>
              <a:sym typeface="+mn-ea"/>
            </a:endParaRPr>
          </a:p>
        </p:txBody>
      </p:sp>
      <p:graphicFrame>
        <p:nvGraphicFramePr>
          <p:cNvPr id="3" name="Table 2"/>
          <p:cNvGraphicFramePr/>
          <p:nvPr/>
        </p:nvGraphicFramePr>
        <p:xfrm>
          <a:off x="488950" y="1929130"/>
          <a:ext cx="8197850" cy="3818255"/>
        </p:xfrm>
        <a:graphic>
          <a:graphicData uri="http://schemas.openxmlformats.org/drawingml/2006/table">
            <a:tbl>
              <a:tblPr firstRow="1" bandRow="1">
                <a:tableStyleId>{5C22544A-7EE6-4342-B048-85BDC9FD1C3A}</a:tableStyleId>
              </a:tblPr>
              <a:tblGrid>
                <a:gridCol w="1106805"/>
                <a:gridCol w="2393315"/>
                <a:gridCol w="4697730"/>
              </a:tblGrid>
              <a:tr h="420370">
                <a:tc>
                  <a:txBody>
                    <a:bodyPr/>
                    <a:p>
                      <a:pPr algn="ctr">
                        <a:buNone/>
                      </a:pPr>
                      <a:r>
                        <a:rPr lang="en-US" sz="2000">
                          <a:latin typeface="Times New Roman" panose="02020603050405020304" pitchFamily="18" charset="0"/>
                          <a:cs typeface="Times New Roman" panose="02020603050405020304" pitchFamily="18" charset="0"/>
                        </a:rPr>
                        <a:t>SR.NO</a:t>
                      </a:r>
                      <a:endParaRPr lang="en-US" sz="2000">
                        <a:latin typeface="Times New Roman" panose="02020603050405020304" pitchFamily="18" charset="0"/>
                        <a:cs typeface="Times New Roman" panose="02020603050405020304" pitchFamily="18" charset="0"/>
                      </a:endParaRPr>
                    </a:p>
                  </a:txBody>
                  <a:tcPr/>
                </a:tc>
                <a:tc>
                  <a:txBody>
                    <a:bodyPr/>
                    <a:p>
                      <a:pPr algn="ctr">
                        <a:buNone/>
                      </a:pPr>
                      <a:r>
                        <a:rPr lang="en-US" sz="2000">
                          <a:latin typeface="Times New Roman" panose="02020603050405020304" pitchFamily="18" charset="0"/>
                          <a:cs typeface="Times New Roman" panose="02020603050405020304" pitchFamily="18" charset="0"/>
                        </a:rPr>
                        <a:t>PART</a:t>
                      </a:r>
                      <a:endParaRPr lang="en-US" sz="2000">
                        <a:latin typeface="Times New Roman" panose="02020603050405020304" pitchFamily="18" charset="0"/>
                        <a:cs typeface="Times New Roman" panose="02020603050405020304" pitchFamily="18" charset="0"/>
                      </a:endParaRPr>
                    </a:p>
                  </a:txBody>
                  <a:tcPr/>
                </a:tc>
                <a:tc>
                  <a:txBody>
                    <a:bodyPr/>
                    <a:p>
                      <a:pPr algn="ctr">
                        <a:buNone/>
                      </a:pPr>
                      <a:r>
                        <a:rPr lang="en-US" sz="2000">
                          <a:latin typeface="Times New Roman" panose="02020603050405020304" pitchFamily="18" charset="0"/>
                          <a:cs typeface="Times New Roman" panose="02020603050405020304" pitchFamily="18" charset="0"/>
                        </a:rPr>
                        <a:t>TOOLS/LANGUAGES USED</a:t>
                      </a:r>
                      <a:endParaRPr lang="en-US" sz="2000">
                        <a:latin typeface="Times New Roman" panose="02020603050405020304" pitchFamily="18" charset="0"/>
                        <a:cs typeface="Times New Roman" panose="02020603050405020304" pitchFamily="18" charset="0"/>
                      </a:endParaRPr>
                    </a:p>
                  </a:txBody>
                  <a:tcPr/>
                </a:tc>
              </a:tr>
              <a:tr h="421005">
                <a:tc>
                  <a:txBody>
                    <a:bodyPr/>
                    <a:p>
                      <a:pPr algn="ctr">
                        <a:buNone/>
                      </a:pPr>
                      <a:r>
                        <a:rPr lang="en-US" sz="2000">
                          <a:latin typeface="Times New Roman" panose="02020603050405020304" pitchFamily="18" charset="0"/>
                          <a:cs typeface="Times New Roman" panose="02020603050405020304" pitchFamily="18" charset="0"/>
                        </a:rPr>
                        <a:t>1.</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Frontend</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Kotlin</a:t>
                      </a:r>
                      <a:endParaRPr lang="en-US" sz="2000">
                        <a:latin typeface="Times New Roman" panose="02020603050405020304" pitchFamily="18" charset="0"/>
                        <a:cs typeface="Times New Roman" panose="02020603050405020304" pitchFamily="18" charset="0"/>
                      </a:endParaRPr>
                    </a:p>
                  </a:txBody>
                  <a:tcPr/>
                </a:tc>
              </a:tr>
              <a:tr h="421005">
                <a:tc>
                  <a:txBody>
                    <a:bodyPr/>
                    <a:p>
                      <a:pPr algn="ctr">
                        <a:buNone/>
                      </a:pPr>
                      <a:r>
                        <a:rPr lang="en-US" sz="2000">
                          <a:latin typeface="Times New Roman" panose="02020603050405020304" pitchFamily="18" charset="0"/>
                          <a:cs typeface="Times New Roman" panose="02020603050405020304" pitchFamily="18" charset="0"/>
                        </a:rPr>
                        <a:t>2.</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Backend</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IN" sz="2000" dirty="0">
                          <a:latin typeface="Times New Roman" panose="02020603050405020304" pitchFamily="18" charset="0"/>
                          <a:cs typeface="Times New Roman" panose="02020603050405020304" pitchFamily="18" charset="0"/>
                          <a:sym typeface="+mn-ea"/>
                        </a:rPr>
                        <a:t>Firebase</a:t>
                      </a:r>
                      <a:r>
                        <a:rPr lang="en-US" altLang="en-IN" sz="2000" dirty="0">
                          <a:latin typeface="Times New Roman" panose="02020603050405020304" pitchFamily="18" charset="0"/>
                          <a:cs typeface="Times New Roman" panose="02020603050405020304" pitchFamily="18" charset="0"/>
                          <a:sym typeface="+mn-ea"/>
                        </a:rPr>
                        <a:t>/SpringBoot</a:t>
                      </a:r>
                      <a:r>
                        <a:rPr lang="en-IN" sz="2000" dirty="0">
                          <a:latin typeface="Times New Roman" panose="02020603050405020304" pitchFamily="18" charset="0"/>
                          <a:cs typeface="Times New Roman" panose="02020603050405020304" pitchFamily="18" charset="0"/>
                          <a:sym typeface="+mn-ea"/>
                        </a:rPr>
                        <a:t> </a:t>
                      </a:r>
                      <a:endParaRPr lang="en-US" sz="2000" dirty="0">
                        <a:latin typeface="Times New Roman" panose="02020603050405020304" pitchFamily="18" charset="0"/>
                        <a:cs typeface="Times New Roman" panose="02020603050405020304" pitchFamily="18" charset="0"/>
                        <a:sym typeface="+mn-ea"/>
                      </a:endParaRPr>
                    </a:p>
                  </a:txBody>
                  <a:tcPr/>
                </a:tc>
              </a:tr>
              <a:tr h="743585">
                <a:tc>
                  <a:txBody>
                    <a:bodyPr/>
                    <a:p>
                      <a:pPr algn="ctr">
                        <a:buNone/>
                      </a:pPr>
                      <a:r>
                        <a:rPr lang="en-US" sz="2000">
                          <a:latin typeface="Times New Roman" panose="02020603050405020304" pitchFamily="18" charset="0"/>
                          <a:cs typeface="Times New Roman" panose="02020603050405020304" pitchFamily="18" charset="0"/>
                        </a:rPr>
                        <a:t>3.</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Image Processing</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dirty="0" err="1">
                          <a:latin typeface="Times New Roman" panose="02020603050405020304" pitchFamily="18" charset="0"/>
                          <a:cs typeface="Times New Roman" panose="02020603050405020304" pitchFamily="18" charset="0"/>
                          <a:sym typeface="+mn-ea"/>
                        </a:rPr>
                        <a:t>PyTorch</a:t>
                      </a:r>
                      <a:r>
                        <a:rPr lang="en-US" sz="2000" dirty="0">
                          <a:latin typeface="Times New Roman" panose="02020603050405020304" pitchFamily="18" charset="0"/>
                          <a:cs typeface="Times New Roman" panose="02020603050405020304" pitchFamily="18" charset="0"/>
                          <a:sym typeface="+mn-ea"/>
                        </a:rPr>
                        <a:t> Mobile – For plant identification &amp; disease detection</a:t>
                      </a:r>
                      <a:endParaRPr lang="en-US" sz="2000">
                        <a:latin typeface="Times New Roman" panose="02020603050405020304" pitchFamily="18" charset="0"/>
                        <a:cs typeface="Times New Roman" panose="02020603050405020304" pitchFamily="18" charset="0"/>
                        <a:sym typeface="+mn-ea"/>
                      </a:endParaRPr>
                    </a:p>
                  </a:txBody>
                  <a:tcPr/>
                </a:tc>
              </a:tr>
              <a:tr h="744220">
                <a:tc>
                  <a:txBody>
                    <a:bodyPr/>
                    <a:p>
                      <a:pPr algn="ctr">
                        <a:buNone/>
                      </a:pPr>
                      <a:r>
                        <a:rPr lang="en-US" sz="2000">
                          <a:latin typeface="Times New Roman" panose="02020603050405020304" pitchFamily="18" charset="0"/>
                          <a:cs typeface="Times New Roman" panose="02020603050405020304" pitchFamily="18" charset="0"/>
                        </a:rPr>
                        <a:t>4.</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Database</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dirty="0">
                          <a:latin typeface="Times New Roman" panose="02020603050405020304" pitchFamily="18" charset="0"/>
                          <a:cs typeface="Times New Roman" panose="02020603050405020304" pitchFamily="18" charset="0"/>
                          <a:sym typeface="+mn-ea"/>
                        </a:rPr>
                        <a:t>Firebase - For storing plant info, user profiles, and health history</a:t>
                      </a:r>
                      <a:endParaRPr lang="en-US" sz="2000" dirty="0">
                        <a:latin typeface="Times New Roman" panose="02020603050405020304" pitchFamily="18" charset="0"/>
                        <a:cs typeface="Times New Roman" panose="02020603050405020304" pitchFamily="18" charset="0"/>
                        <a:sym typeface="+mn-ea"/>
                      </a:endParaRPr>
                    </a:p>
                  </a:txBody>
                  <a:tcPr/>
                </a:tc>
              </a:tr>
              <a:tr h="1068070">
                <a:tc>
                  <a:txBody>
                    <a:bodyPr/>
                    <a:p>
                      <a:pPr algn="ctr">
                        <a:buNone/>
                      </a:pPr>
                      <a:r>
                        <a:rPr lang="en-US" sz="2000">
                          <a:latin typeface="Times New Roman" panose="02020603050405020304" pitchFamily="18" charset="0"/>
                          <a:cs typeface="Times New Roman" panose="02020603050405020304" pitchFamily="18" charset="0"/>
                        </a:rPr>
                        <a:t>5.</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IN" sz="2000" b="0" dirty="0">
                          <a:latin typeface="Times New Roman" panose="02020603050405020304" pitchFamily="18" charset="0"/>
                          <a:cs typeface="Times New Roman" panose="02020603050405020304" pitchFamily="18" charset="0"/>
                          <a:sym typeface="+mn-ea"/>
                        </a:rPr>
                        <a:t>Development Tools</a:t>
                      </a:r>
                      <a:endParaRPr lang="en-IN" sz="2000" b="0" dirty="0">
                        <a:latin typeface="Times New Roman" panose="02020603050405020304" pitchFamily="18" charset="0"/>
                        <a:cs typeface="Times New Roman" panose="02020603050405020304" pitchFamily="18" charset="0"/>
                      </a:endParaRPr>
                    </a:p>
                    <a:p>
                      <a:pPr>
                        <a:buNone/>
                      </a:pPr>
                      <a:endParaRPr lang="en-IN" sz="2000" b="0" dirty="0">
                        <a:latin typeface="Times New Roman" panose="02020603050405020304" pitchFamily="18" charset="0"/>
                        <a:cs typeface="Times New Roman" panose="02020603050405020304" pitchFamily="18" charset="0"/>
                      </a:endParaRPr>
                    </a:p>
                  </a:txBody>
                  <a:tcPr/>
                </a:tc>
                <a:tc>
                  <a:txBody>
                    <a:bodyPr/>
                    <a:p>
                      <a:pPr>
                        <a:buNone/>
                      </a:pPr>
                      <a:r>
                        <a:rPr lang="en-IN" sz="2000" dirty="0">
                          <a:latin typeface="Times New Roman" panose="02020603050405020304" pitchFamily="18" charset="0"/>
                          <a:cs typeface="Times New Roman" panose="02020603050405020304" pitchFamily="18" charset="0"/>
                          <a:sym typeface="+mn-ea"/>
                        </a:rPr>
                        <a:t>Android Studio / VS Code – For coding, testing, and debugging </a:t>
                      </a:r>
                      <a:endParaRPr lang="en-IN" sz="2000" dirty="0">
                        <a:latin typeface="Times New Roman" panose="02020603050405020304" pitchFamily="18" charset="0"/>
                        <a:cs typeface="Times New Roman" panose="02020603050405020304" pitchFamily="18" charset="0"/>
                        <a:sym typeface="+mn-ea"/>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3145736" name="Google Shape;180;p5"/>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709" name="Google Shape;181;p5"/>
          <p:cNvSpPr txBox="1"/>
          <p:nvPr/>
        </p:nvSpPr>
        <p:spPr>
          <a:xfrm>
            <a:off x="350875" y="858800"/>
            <a:ext cx="8229600" cy="698538"/>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US" sz="40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r>
              <a:rPr lang="en-US" sz="32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RESULT and ANALYSIS </a:t>
            </a:r>
            <a:endParaRPr sz="32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710" name="Google Shape;182;p5"/>
          <p:cNvSpPr txBox="1"/>
          <p:nvPr/>
        </p:nvSpPr>
        <p:spPr>
          <a:xfrm flipH="1">
            <a:off x="350873" y="2143124"/>
            <a:ext cx="8335925" cy="2890520"/>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Results:</a:t>
            </a:r>
            <a:endParaRPr lang="en-US" sz="20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proposed </a:t>
            </a:r>
            <a:r>
              <a:rPr lang="en-US" sz="1800" dirty="0" err="1">
                <a:latin typeface="Times New Roman" panose="02020603050405020304" pitchFamily="18" charset="0"/>
                <a:cs typeface="Times New Roman" panose="02020603050405020304" pitchFamily="18" charset="0"/>
              </a:rPr>
              <a:t>Exotic Flora</a:t>
            </a:r>
            <a:r>
              <a:rPr lang="en-US" sz="1800" dirty="0">
                <a:latin typeface="Times New Roman" panose="02020603050405020304" pitchFamily="18" charset="0"/>
                <a:cs typeface="Times New Roman" panose="02020603050405020304" pitchFamily="18" charset="0"/>
              </a:rPr>
              <a:t> application successfully identifies exotic plants and flowers using image processing techniques. By scanning the plant, the app provides accurate details about its species along with possible problems such as diseases or deficiencies. It also suggests effective care solutions, helping users maintain plant health</a:t>
            </a:r>
            <a:endParaRPr lang="en-US" sz="18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Analysis:</a:t>
            </a:r>
            <a:endParaRPr lang="en-US" sz="20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Plant recognition achieves good accuracy with proper image quality.</a:t>
            </a: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Problem detection is reliable for common plant issues.</a:t>
            </a: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Users find the app simple and effective for day-to-day plant care.</a:t>
            </a:r>
            <a:endParaRPr lang="en-US" sz="1800" dirty="0">
              <a:latin typeface="Times New Roman" panose="02020603050405020304" pitchFamily="18" charset="0"/>
              <a:cs typeface="Times New Roman" panose="02020603050405020304" pitchFamily="18" charset="0"/>
            </a:endParaRPr>
          </a:p>
        </p:txBody>
      </p:sp>
      <p:sp>
        <p:nvSpPr>
          <p:cNvPr id="1048711" name="Google Shape;18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23/04/2026</a:t>
            </a:r>
            <a:endParaRPr lang="en-US" dirty="0"/>
          </a:p>
          <a:p>
            <a:pPr marL="0" lvl="0" indent="0" algn="l" rtl="0">
              <a:spcBef>
                <a:spcPts val="0"/>
              </a:spcBef>
              <a:spcAft>
                <a:spcPts val="0"/>
              </a:spcAft>
              <a:buNone/>
            </a:pPr>
            <a:endParaRPr dirty="0"/>
          </a:p>
        </p:txBody>
      </p:sp>
      <p:sp>
        <p:nvSpPr>
          <p:cNvPr id="1048713" name="Google Shape;1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097163"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2" name="Text Box 1"/>
          <p:cNvSpPr txBox="1"/>
          <p:nvPr/>
        </p:nvSpPr>
        <p:spPr>
          <a:xfrm>
            <a:off x="1616075" y="6247130"/>
            <a:ext cx="6602095"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3145737" name="Google Shape;180;p5"/>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720" name="Google Shape;181;p5"/>
          <p:cNvSpPr txBox="1"/>
          <p:nvPr/>
        </p:nvSpPr>
        <p:spPr>
          <a:xfrm>
            <a:off x="350875" y="858800"/>
            <a:ext cx="8229600" cy="698538"/>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US" sz="40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r>
              <a:rPr lang="en-US" sz="32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CONCLUSION  </a:t>
            </a:r>
            <a:endParaRPr sz="32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721" name="Google Shape;182;p5"/>
          <p:cNvSpPr txBox="1"/>
          <p:nvPr/>
        </p:nvSpPr>
        <p:spPr>
          <a:xfrm flipH="1">
            <a:off x="297712" y="1628527"/>
            <a:ext cx="8335925" cy="2031285"/>
          </a:xfrm>
          <a:prstGeom prst="rect">
            <a:avLst/>
          </a:prstGeom>
          <a:noFill/>
          <a:ln>
            <a:noFill/>
          </a:ln>
        </p:spPr>
        <p:txBody>
          <a:bodyPr spcFirstLastPara="1" wrap="square" lIns="91425" tIns="45700" rIns="91425" bIns="45700" anchor="t" anchorCtr="0">
            <a:spAutoFit/>
          </a:bodyPr>
          <a:lstStyle/>
          <a:p>
            <a:pPr algn="just"/>
            <a:r>
              <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Exotic Care is designed as an innovative mobile application that combines image processing and AI to identify exotic plants, detect diseases or deficiencies, and suggest proper solutions. By providing accurate care tips, health tracking, and timely reminders, the app acts as a digital companion for plant enthusiasts, gardeners, and researchers. Unlike existing solutions focused mainly on common crops, Exotic Care addresses the gap in exotic and ornamental plant care, thereby promoting sustainable gardening and the preservation of rare species.</a:t>
            </a:r>
            <a:endParaRPr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48722" name="Google Shape;184;p5"/>
          <p:cNvSpPr txBox="1">
            <a:spLocks noGrp="1"/>
          </p:cNvSpPr>
          <p:nvPr>
            <p:ph type="dt" idx="10"/>
          </p:nvPr>
        </p:nvSpPr>
        <p:spPr>
          <a:xfrm>
            <a:off x="457200" y="6241415"/>
            <a:ext cx="984885" cy="365125"/>
          </a:xfrm>
          <a:prstGeom prst="rect">
            <a:avLst/>
          </a:prstGeom>
          <a:noFill/>
          <a:ln>
            <a:noFill/>
          </a:ln>
        </p:spPr>
        <p:txBody>
          <a:bodyPr spcFirstLastPara="1" wrap="square" lIns="91425" tIns="45700" rIns="91425" bIns="45700" anchor="ctr" anchorCtr="0">
            <a:noAutofit/>
          </a:bodyPr>
          <a:lstStyle/>
          <a:p>
            <a:r>
              <a:rPr lang="en-US" dirty="0"/>
              <a:t>23/04/2026</a:t>
            </a:r>
            <a:endParaRPr dirty="0"/>
          </a:p>
        </p:txBody>
      </p:sp>
      <p:sp>
        <p:nvSpPr>
          <p:cNvPr id="1048724" name="Google Shape;1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dirty="0"/>
          </a:p>
        </p:txBody>
      </p:sp>
      <p:pic>
        <p:nvPicPr>
          <p:cNvPr id="2097164"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2" name="Text Box 1"/>
          <p:cNvSpPr txBox="1"/>
          <p:nvPr/>
        </p:nvSpPr>
        <p:spPr>
          <a:xfrm>
            <a:off x="1586865" y="6241415"/>
            <a:ext cx="6419850"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3145738" name="Google Shape;180;p5"/>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sp>
        <p:nvSpPr>
          <p:cNvPr id="1048731" name="Google Shape;181;p5"/>
          <p:cNvSpPr txBox="1"/>
          <p:nvPr/>
        </p:nvSpPr>
        <p:spPr>
          <a:xfrm>
            <a:off x="350875" y="858800"/>
            <a:ext cx="8229600" cy="698538"/>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US" sz="40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REFERENCE </a:t>
            </a:r>
            <a:r>
              <a:rPr lang="en-US" sz="3200" b="1" u="sng"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sz="32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732" name="Google Shape;182;p5"/>
          <p:cNvSpPr txBox="1"/>
          <p:nvPr/>
        </p:nvSpPr>
        <p:spPr>
          <a:xfrm flipH="1">
            <a:off x="-209563" y="3202621"/>
            <a:ext cx="8335925" cy="1348700"/>
          </a:xfrm>
          <a:prstGeom prst="rect">
            <a:avLst/>
          </a:prstGeom>
          <a:noFill/>
          <a:ln>
            <a:noFill/>
          </a:ln>
        </p:spPr>
        <p:txBody>
          <a:bodyPr spcFirstLastPara="1" wrap="square" lIns="91425" tIns="45700" rIns="91425" bIns="45700" anchor="t" anchorCtr="0">
            <a:spAutoFit/>
          </a:bodyPr>
          <a:lstStyle/>
          <a:p>
            <a:pPr>
              <a:lnSpc>
                <a:spcPct val="150000"/>
              </a:lnSpc>
            </a:pPr>
            <a:endParaRPr lang="en-US" sz="1800" dirty="0"/>
          </a:p>
          <a:p>
            <a:pPr>
              <a:lnSpc>
                <a:spcPct val="150000"/>
              </a:lnSpc>
            </a:pPr>
            <a:endParaRPr lang="en-IN" sz="1800" dirty="0"/>
          </a:p>
          <a:p>
            <a:pPr>
              <a:lnSpc>
                <a:spcPct val="150000"/>
              </a:lnSpc>
            </a:pPr>
            <a:endParaRPr sz="20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48733" name="Google Shape;18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23/04/2026</a:t>
            </a:r>
            <a:endParaRPr dirty="0"/>
          </a:p>
        </p:txBody>
      </p:sp>
      <p:sp>
        <p:nvSpPr>
          <p:cNvPr id="1048735" name="Google Shape;1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097165" name="Google Shape;187;p5"/>
          <p:cNvPicPr preferRelativeResize="0"/>
          <p:nvPr/>
        </p:nvPicPr>
        <p:blipFill>
          <a:blip r:embed="rId1"/>
          <a:stretch>
            <a:fillRect/>
          </a:stretch>
        </p:blipFill>
        <p:spPr>
          <a:xfrm>
            <a:off x="350875" y="19000"/>
            <a:ext cx="8665551" cy="839800"/>
          </a:xfrm>
          <a:prstGeom prst="rect">
            <a:avLst/>
          </a:prstGeom>
          <a:noFill/>
          <a:ln>
            <a:noFill/>
          </a:ln>
        </p:spPr>
      </p:pic>
      <p:sp>
        <p:nvSpPr>
          <p:cNvPr id="1048737" name="Rectangle 1"/>
          <p:cNvSpPr>
            <a:spLocks noChangeArrowheads="1"/>
          </p:cNvSpPr>
          <p:nvPr/>
        </p:nvSpPr>
        <p:spPr bwMode="auto">
          <a:xfrm>
            <a:off x="0" y="-179070"/>
            <a:ext cx="182880" cy="358140"/>
          </a:xfrm>
          <a:prstGeom prst="rect">
            <a:avLst/>
          </a:prstGeom>
          <a:noFill/>
          <a:ln>
            <a:noFill/>
          </a:ln>
          <a:effec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1048738" name="Rectangle 1"/>
          <p:cNvSpPr>
            <a:spLocks noChangeArrowheads="1"/>
          </p:cNvSpPr>
          <p:nvPr/>
        </p:nvSpPr>
        <p:spPr bwMode="auto">
          <a:xfrm flipV="1">
            <a:off x="264816" y="3094612"/>
            <a:ext cx="7482190" cy="338554"/>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48739" name="Rectangle 2"/>
          <p:cNvSpPr>
            <a:spLocks noChangeArrowheads="1"/>
          </p:cNvSpPr>
          <p:nvPr/>
        </p:nvSpPr>
        <p:spPr bwMode="auto">
          <a:xfrm>
            <a:off x="350875" y="1868519"/>
            <a:ext cx="8413955" cy="2308324"/>
          </a:xfrm>
          <a:prstGeom prst="rect">
            <a:avLst/>
          </a:prstGeom>
          <a:noFill/>
          <a:ln>
            <a:noFill/>
          </a:ln>
          <a:effectLst/>
        </p:spPr>
        <p:txBody>
          <a:bodyPr vert="horz" wrap="square" lIns="91440" tIns="45720" rIns="91440" bIns="45720" numCol="1" anchor="ctr" anchorCtr="0" compatLnSpc="1">
            <a:spAutoFit/>
          </a:bodyPr>
          <a:lstStyle/>
          <a:p>
            <a:pPr marL="342900" indent="-342900">
              <a:buAutoNum type="arabicPeriod"/>
            </a:pPr>
            <a:r>
              <a:rPr lang="en-IN" sz="1800" dirty="0" err="1">
                <a:latin typeface="Times New Roman" panose="02020603050405020304" pitchFamily="18" charset="0"/>
                <a:cs typeface="Times New Roman" panose="02020603050405020304" pitchFamily="18" charset="0"/>
              </a:rPr>
              <a:t>PlantVillage</a:t>
            </a:r>
            <a:r>
              <a:rPr lang="en-IN" sz="1800" dirty="0">
                <a:latin typeface="Times New Roman" panose="02020603050405020304" pitchFamily="18" charset="0"/>
                <a:cs typeface="Times New Roman" panose="02020603050405020304" pitchFamily="18" charset="0"/>
              </a:rPr>
              <a:t> Dataset – https://plantvillage.psu.eduPlantix App (PEAT GmbH) – https://</a:t>
            </a:r>
            <a:endParaRPr lang="en-IN" sz="1800" dirty="0">
              <a:latin typeface="Times New Roman" panose="02020603050405020304" pitchFamily="18" charset="0"/>
              <a:cs typeface="Times New Roman" panose="02020603050405020304" pitchFamily="18" charset="0"/>
            </a:endParaRPr>
          </a:p>
          <a:p>
            <a:pPr marL="342900" indent="-342900">
              <a:buAutoNum type="arabicPeriod"/>
            </a:pPr>
            <a:r>
              <a:rPr lang="en-IN" sz="1800" dirty="0" err="1">
                <a:latin typeface="Times New Roman" panose="02020603050405020304" pitchFamily="18" charset="0"/>
                <a:cs typeface="Times New Roman" panose="02020603050405020304" pitchFamily="18" charset="0"/>
              </a:rPr>
              <a:t>plantix.netTensorFlow</a:t>
            </a:r>
            <a:r>
              <a:rPr lang="en-IN" sz="1800" dirty="0">
                <a:latin typeface="Times New Roman" panose="02020603050405020304" pitchFamily="18" charset="0"/>
                <a:cs typeface="Times New Roman" panose="02020603050405020304" pitchFamily="18" charset="0"/>
              </a:rPr>
              <a:t> Lite – Google AI – </a:t>
            </a:r>
            <a:r>
              <a:rPr lang="en-IN" sz="1800" dirty="0">
                <a:latin typeface="Times New Roman" panose="02020603050405020304" pitchFamily="18" charset="0"/>
                <a:cs typeface="Times New Roman" panose="02020603050405020304" pitchFamily="18" charset="0"/>
                <a:hlinkClick r:id="rId2"/>
              </a:rPr>
              <a:t>https://www.tensorflow.org/lite</a:t>
            </a:r>
            <a:endParaRPr lang="en-IN" sz="1800" dirty="0">
              <a:latin typeface="Times New Roman" panose="02020603050405020304" pitchFamily="18" charset="0"/>
              <a:cs typeface="Times New Roman" panose="02020603050405020304" pitchFamily="18" charset="0"/>
            </a:endParaRPr>
          </a:p>
          <a:p>
            <a:pPr marL="342900" indent="-342900">
              <a:buAutoNum type="arabicPeriod"/>
            </a:pPr>
            <a:r>
              <a:rPr lang="en-IN" sz="1800" dirty="0">
                <a:latin typeface="Times New Roman" panose="02020603050405020304" pitchFamily="18" charset="0"/>
                <a:cs typeface="Times New Roman" panose="02020603050405020304" pitchFamily="18" charset="0"/>
              </a:rPr>
              <a:t>Firebase Documentation – </a:t>
            </a:r>
            <a:r>
              <a:rPr lang="en-IN" sz="1800" dirty="0">
                <a:latin typeface="Times New Roman" panose="02020603050405020304" pitchFamily="18" charset="0"/>
                <a:cs typeface="Times New Roman" panose="02020603050405020304" pitchFamily="18" charset="0"/>
                <a:hlinkClick r:id="rId3"/>
              </a:rPr>
              <a:t>https://firebase.google.com</a:t>
            </a:r>
            <a:endParaRPr lang="en-IN" sz="1800" dirty="0">
              <a:latin typeface="Times New Roman" panose="02020603050405020304" pitchFamily="18" charset="0"/>
              <a:cs typeface="Times New Roman" panose="02020603050405020304" pitchFamily="18" charset="0"/>
            </a:endParaRPr>
          </a:p>
          <a:p>
            <a:pPr marL="342900" indent="-342900">
              <a:buAutoNum type="arabicPeriod"/>
            </a:pPr>
            <a:r>
              <a:rPr lang="en-IN" sz="1800" dirty="0">
                <a:latin typeface="Times New Roman" panose="02020603050405020304" pitchFamily="18" charset="0"/>
                <a:cs typeface="Times New Roman" panose="02020603050405020304" pitchFamily="18" charset="0"/>
              </a:rPr>
              <a:t>Deep Learning for Plant Disease Detection (Ferentinos, 2018) – </a:t>
            </a:r>
            <a:r>
              <a:rPr lang="en-IN" sz="1800" dirty="0">
                <a:latin typeface="Times New Roman" panose="02020603050405020304" pitchFamily="18" charset="0"/>
                <a:cs typeface="Times New Roman" panose="02020603050405020304" pitchFamily="18" charset="0"/>
                <a:hlinkClick r:id="rId4"/>
              </a:rPr>
              <a:t>https://doi.org/10.1016/j.compag.2018.01.009</a:t>
            </a:r>
            <a:endParaRPr lang="en-IN" sz="1800" dirty="0">
              <a:latin typeface="Times New Roman" panose="02020603050405020304" pitchFamily="18" charset="0"/>
              <a:cs typeface="Times New Roman" panose="02020603050405020304" pitchFamily="18" charset="0"/>
            </a:endParaRPr>
          </a:p>
          <a:p>
            <a:pPr marL="342900" indent="-342900">
              <a:buAutoNum type="arabicPeriod"/>
            </a:pPr>
            <a:r>
              <a:rPr lang="en-IN" sz="1800" dirty="0">
                <a:latin typeface="Times New Roman" panose="02020603050405020304" pitchFamily="18" charset="0"/>
                <a:cs typeface="Times New Roman" panose="02020603050405020304" pitchFamily="18" charset="0"/>
              </a:rPr>
              <a:t>Comparative Study of Deep Learning Models for Plant Disease Identification (Too et al., 2019) – https://doi.org/10.1016/j.compag.2019.04.011 )</a:t>
            </a:r>
            <a:endParaRPr lang="en-IN" sz="1800"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1605280" y="6356350"/>
            <a:ext cx="6276975"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cxnSp>
        <p:nvCxnSpPr>
          <p:cNvPr id="3145739" name="Google Shape;196;p9"/>
          <p:cNvCxnSpPr/>
          <p:nvPr/>
        </p:nvCxnSpPr>
        <p:spPr>
          <a:xfrm>
            <a:off x="76200" y="838200"/>
            <a:ext cx="8991600" cy="1588"/>
          </a:xfrm>
          <a:prstGeom prst="straightConnector1">
            <a:avLst/>
          </a:prstGeom>
          <a:noFill/>
          <a:ln w="9525" cap="flat" cmpd="sng">
            <a:solidFill>
              <a:srgbClr val="4A7DBA"/>
            </a:solidFill>
            <a:prstDash val="solid"/>
            <a:round/>
            <a:headEnd type="none" w="sm" len="sm"/>
            <a:tailEnd type="none" w="sm" len="sm"/>
          </a:ln>
        </p:spPr>
      </p:cxnSp>
      <p:grpSp>
        <p:nvGrpSpPr>
          <p:cNvPr id="71" name="Google Shape;198;p9"/>
          <p:cNvGrpSpPr/>
          <p:nvPr/>
        </p:nvGrpSpPr>
        <p:grpSpPr>
          <a:xfrm>
            <a:off x="685800" y="2130425"/>
            <a:ext cx="7772400" cy="3508375"/>
            <a:chOff x="685800" y="2130425"/>
            <a:chExt cx="7772400" cy="3508375"/>
          </a:xfrm>
        </p:grpSpPr>
        <p:sp>
          <p:nvSpPr>
            <p:cNvPr id="1048746" name="Google Shape;199;p9"/>
            <p:cNvSpPr txBox="1"/>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6600" b="1" i="1">
                  <a:solidFill>
                    <a:schemeClr val="dk2"/>
                  </a:solidFill>
                  <a:latin typeface="Times New Roman" panose="02020603050405020304"/>
                  <a:ea typeface="Times New Roman" panose="02020603050405020304"/>
                  <a:cs typeface="Times New Roman" panose="02020603050405020304"/>
                  <a:sym typeface="Times New Roman" panose="02020603050405020304"/>
                </a:rPr>
                <a:t>Thank  You!!</a:t>
              </a:r>
              <a:endParaRPr sz="6600" b="1" i="1">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747" name="Google Shape;200;p9"/>
            <p:cNvSpPr txBo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342900" marR="0" lvl="0" indent="-342900" algn="ctr" rtl="0">
                <a:spcBef>
                  <a:spcPts val="0"/>
                </a:spcBef>
                <a:spcAft>
                  <a:spcPts val="0"/>
                </a:spcAft>
                <a:buNone/>
              </a:pPr>
              <a:r>
                <a:rPr lang="en-US" sz="5400" b="1" i="1">
                  <a:solidFill>
                    <a:srgbClr val="C00000"/>
                  </a:solidFill>
                  <a:latin typeface="Times New Roman" panose="02020603050405020304"/>
                  <a:ea typeface="Times New Roman" panose="02020603050405020304"/>
                  <a:cs typeface="Times New Roman" panose="02020603050405020304"/>
                  <a:sym typeface="Times New Roman" panose="02020603050405020304"/>
                </a:rPr>
                <a:t>Any  Questions??</a:t>
              </a:r>
              <a:endParaRPr lang="en-US" sz="5400" b="1" i="1">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048748" name="Google Shape;201;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23/04/2026</a:t>
            </a:r>
            <a:endParaRPr dirty="0"/>
          </a:p>
        </p:txBody>
      </p:sp>
      <p:sp>
        <p:nvSpPr>
          <p:cNvPr id="1048750" name="Google Shape;203;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097166" name="Google Shape;204;p9"/>
          <p:cNvPicPr preferRelativeResize="0"/>
          <p:nvPr/>
        </p:nvPicPr>
        <p:blipFill>
          <a:blip r:embed="rId1"/>
          <a:stretch>
            <a:fillRect/>
          </a:stretch>
        </p:blipFill>
        <p:spPr>
          <a:xfrm>
            <a:off x="350875" y="19000"/>
            <a:ext cx="8665551" cy="839800"/>
          </a:xfrm>
          <a:prstGeom prst="rect">
            <a:avLst/>
          </a:prstGeom>
          <a:noFill/>
          <a:ln>
            <a:noFill/>
          </a:ln>
        </p:spPr>
      </p:pic>
      <p:sp>
        <p:nvSpPr>
          <p:cNvPr id="2" name="Text Box 1"/>
          <p:cNvSpPr txBox="1"/>
          <p:nvPr/>
        </p:nvSpPr>
        <p:spPr>
          <a:xfrm>
            <a:off x="1749425" y="6356350"/>
            <a:ext cx="6190615" cy="337185"/>
          </a:xfrm>
          <a:prstGeom prst="rect">
            <a:avLst/>
          </a:prstGeom>
          <a:noFill/>
        </p:spPr>
        <p:txBody>
          <a:bodyPr wrap="square" rtlCol="0" anchor="t">
            <a:spAutoFit/>
          </a:bodyPr>
          <a:p>
            <a:pPr algn="ctr" fontAlgn="base">
              <a:spcBef>
                <a:spcPct val="0"/>
              </a:spcBef>
              <a:spcAft>
                <a:spcPct val="0"/>
              </a:spcAft>
            </a:pPr>
            <a:r>
              <a:rPr lang="en-US" altLang="zh-CN" sz="1600">
                <a:solidFill>
                  <a:srgbClr val="888888"/>
                </a:solidFill>
                <a:latin typeface="Calibri" panose="020F0502020204030204"/>
                <a:ea typeface="Calibri" panose="020F0502020204030204"/>
                <a:sym typeface="+mn-ea"/>
              </a:rPr>
              <a:t>Exotic Flora: AI-Driven Exploration of exotic plants by image recognition</a:t>
            </a:r>
            <a:endParaRPr lang="en-US" altLang="zh-CN" sz="1600">
              <a:solidFill>
                <a:srgbClr val="888888"/>
              </a:solidFill>
              <a:latin typeface="Calibri" panose="020F0502020204030204"/>
              <a:ea typeface="Calibri" panose="020F0502020204030204"/>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6757</Words>
  <Application>WPS Presentation</Application>
  <PresentationFormat>On-screen Show (4:3)</PresentationFormat>
  <Paragraphs>234</Paragraphs>
  <Slides>12</Slides>
  <Notes>12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Arial</vt:lpstr>
      <vt:lpstr>Calibri</vt:lpstr>
      <vt:lpstr>Times New Roman</vt:lpstr>
      <vt:lpstr>Bookman Old Style</vt:lpstr>
      <vt:lpstr>Overlock</vt:lpstr>
      <vt:lpstr>Times New Roman</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Sheetal</dc:creator>
  <cp:lastModifiedBy>mahaj</cp:lastModifiedBy>
  <cp:revision>6</cp:revision>
  <dcterms:created xsi:type="dcterms:W3CDTF">2018-10-16T21:17:00Z</dcterms:created>
  <dcterms:modified xsi:type="dcterms:W3CDTF">2026-03-30T18:15:31Z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5D6E35A0D0F64A4C9C9B665467BE380A_13</vt:lpwstr>
  </property>
  <property fmtid="{D5CDD505-2E9C-101B-9397-08002B2CF9AE}" pid="3" name="KSOProductBuildVer">
    <vt:lpwstr>1033-12.1.0.25242</vt:lpwstr>
  </property>
</Properties>
</file>